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notesMasterIdLst>
    <p:notesMasterId r:id="rId3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notesMaster" Target="notesMasters/notesMaster1.xml"/><Relationship Id="rId38" Type="http://schemas.openxmlformats.org/officeDocument/2006/relationships/presProps" Target="presProps.xml"/><Relationship Id="rId39" Type="http://schemas.openxmlformats.org/officeDocument/2006/relationships/viewProps" Target="viewProps.xml"/><Relationship Id="rId40" Type="http://schemas.openxmlformats.org/officeDocument/2006/relationships/theme" Target="theme/theme1.xml"/><Relationship Id="rId4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by scoping honestly: the pose model is off-the-shelf MediaPipe; our contribution is the classical stereo pipeline (calibration, synchronization, triangulation, leveling) and the full-stack app. We reconstruct TRUE metric 3D, not a monocular depth guess.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 with the framing sentence in the bottom bullet. If they think you trained a network, that gets dismantled fast - own the real scope; the stereo geometry IS the substance.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value (cheap, markerless, 3D) and immediately signal you understand the hard parts - sync, calibration, noise, correspondence. This pre-empts his first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browser never touches MinIO credentials - it gets short-lived presigned URLs. Processing currently runs synchronously inside the FastAPI request (flag this; it's a scalability limit you'll revisit).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ready to justify each choice. MediaPipe = fast, robust, per-point confidence, tiny footprint. FastAPI = async, typed. MinIO = self-hosted S3 so we never ship blobs through the DB.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spine of the talk. Everything after is a zoom-in on one of these stages. If asked to walk through it, follow these eight rows in order.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mirrors your real room (305x381 cm). Key terms: baseline, convergent/verged rig, overlapping field of view, capture volume. Wide baseline = the reason calibration is hard and why depth precision is good.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live modes: USB and phone-IP. Phones avoid USB-bus contention - a real practical reason. The DSLR can't live-stream/sync, so it's for clean single-camera 2D and as an accuracy reference.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question he opens with. Say not hardware-synced first, then quantify the error and give the fix. Never let him extract this - volunteer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layout/source tags written here are what Stage 3 reads to choose stereo-vs-2D. Mention the frame-duplication caveat before he finds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Define these four crisply - a definitions question is a trap to check you understand your own system. Intrinsics vs extrinsics is the classic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 step 3's gate (board must be in BOTH views) and that the square size is what makes everything metric. Quality is judged by reprojection RMS.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exact question your client already asked. Know both gates and the median x 1.5 rule. Volunteering the two caveats reads as maturity, not weakness.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Don't hide the 4.2 px. Explain WHY (wide baseline + small board + sync), what it tells you (per-camera good, stereo bad = sync), and the concrete fixes. This is exactly the diagnostic reasoning a senior engineer wants to see.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separate causes of tilt: (1) calibration error in R, fixed by better calibration; (2) output is in the tilted left-camera frame - fixed by R_level. Stress that leveling is cosmetic: angles don't change.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Strong point: we ignore MediaPipe's z because it's a relative monocular guess. Weakness to flag next slide: presence vs visibility, and healing is off on the 3D path.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neck is not a MediaPipe landmark - we build it from the shoulder midpoint so the skeleton has a clean spine for angle definitions.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Name the method precisely (DLT via SVD, algebraic error) and its limits (no outlier rejection, no bundle adjustment, no epipolar gating). The epipolar/correspondence gap is the second question he'll dig 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your single best defensive slide. The reported deliverable (angles) is invariant to scale and global rotation - exactly the invariances that neutralize the calibration weaknesses he'll probe.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 the dual payload: 2D frames keep the chart working; frames_3d powers the 3D viewer. Flag synchronous processing as the production gap (needs a job queue).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three panels stay locked to the video clock via a lightweight custom-event bus - no heavy state library needed. Playback uses a short-lived presigned MinIO URL.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Deliberately lightweight (canvas, not a 3D engine) - fewer dependencies, full control over the projection and the biometrics HUD.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to answer walk me through it end to end in 30 seconds. Calibration is the one-time offline branch; everything else runs per clip.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HttpOnly cookie = the token is invisible to JavaScript, reducing XSS token theft. Presigned URLs mean the browser streams video without ever seeing storage credentials.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these before he digs them out - it flips every one from a gotcha into evidence of self-awareness. Have the fix ready for each (next slides).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Rehearse these four out loud. Lead each answer with the honest admission, then the quantification, then the fix.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accuracy in degrees answer must NOT invent a number. Say you haven't measured it and give the exact validation method. That honesty scores higher than a fake figure.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future-work item maps 1:1 to a limitation - show that you have a concrete plan, not just a list of problems.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Having a concrete validation protocol ready is often worth more than a number - it shows you know how to prove the system, not just build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definitions question is a competence test. If asked any of these, answer in one clean sentence - don't ramble.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calm. Invite the hard questions - you've prepared for them. If cornered: I haven't measured/built that - here's why it matters and how I'd approach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23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914400"/>
            <a:ext cx="2011680" cy="2926080"/>
          </a:xfrm>
          <a:prstGeom prst="line">
            <a:avLst/>
          </a:prstGeom>
          <a:noFill/>
          <a:ln w="19050">
            <a:solidFill>
              <a:srgbClr val="2E3E6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961120" y="5669280"/>
            <a:ext cx="2011680" cy="-2926080"/>
          </a:xfrm>
          <a:prstGeom prst="line">
            <a:avLst/>
          </a:prstGeom>
          <a:noFill/>
          <a:ln w="19050">
            <a:solidFill>
              <a:srgbClr val="2E3E6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961120" y="914400"/>
            <a:ext cx="0" cy="4754880"/>
          </a:xfrm>
          <a:prstGeom prst="line">
            <a:avLst/>
          </a:prstGeom>
          <a:noFill/>
          <a:ln w="19050">
            <a:solidFill>
              <a:srgbClr val="2E3E6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887968" y="841248"/>
            <a:ext cx="146304" cy="146304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6" name="Shape 4"/>
          <p:cNvSpPr/>
          <p:nvPr/>
        </p:nvSpPr>
        <p:spPr>
          <a:xfrm>
            <a:off x="8887968" y="5596128"/>
            <a:ext cx="146304" cy="146304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7" name="Shape 5"/>
          <p:cNvSpPr/>
          <p:nvPr/>
        </p:nvSpPr>
        <p:spPr>
          <a:xfrm>
            <a:off x="10881360" y="3218688"/>
            <a:ext cx="182880" cy="182880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SportPose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731520" y="278892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F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Markerless 3D Human Motion Capture via Stereo Vision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49808" y="352044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end-to-end technical walkthrough: camera capture -&gt; synchronization -&gt; calibration -&gt; triangulation -&gt; 3D kinematics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49808" y="5120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FA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Stereo capture  ·  </a:t>
            </a:r>
            <a:pPr indent="0" marL="0">
              <a:buNone/>
            </a:pPr>
            <a:r>
              <a:rPr lang="en-US" sz="1200" b="1" dirty="0">
                <a:solidFill>
                  <a:srgbClr val="7FA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 calibration  ·  </a:t>
            </a:r>
            <a:pPr indent="0" marL="0">
              <a:buNone/>
            </a:pPr>
            <a:r>
              <a:rPr lang="en-US" sz="1200" b="1" dirty="0">
                <a:solidFill>
                  <a:srgbClr val="7FA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MediaPipe pose  ·  </a:t>
            </a:r>
            <a:pPr indent="0" marL="0">
              <a:buNone/>
            </a:pPr>
            <a:r>
              <a:rPr lang="en-US" sz="1200" b="1" dirty="0">
                <a:solidFill>
                  <a:srgbClr val="7FA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 triangulation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1247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SportPose is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6400800" cy="4754880"/>
          </a:xfrm>
          <a:prstGeom prst="roundRect">
            <a:avLst>
              <a:gd name="adj" fmla="val 1731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737360"/>
            <a:ext cx="5852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in one paragraph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2194560"/>
            <a:ext cx="585216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cameras record an athlete from two angles (a stereo pair).</a:t>
            </a:r>
            <a:endParaRPr lang="en-US" sz="130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pre-trained pose model finds 2D body joints in each view.</a:t>
            </a:r>
            <a:endParaRPr lang="en-US" sz="130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stereo geometry - calibration + triangulation - lifts the paired 2D joints into true 3D positions (millimetres).</a:t>
            </a:r>
            <a:endParaRPr lang="en-US" sz="130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joint angles are computed per frame and shown in a synchronized web UI: overlay video + rotatable 3D skeleton + angle graphs.</a:t>
            </a:r>
            <a:endParaRPr lang="en-US" sz="130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300" b="1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of the ML: pose estimation = MediaPipe (inference only). Our engineering = the stereo reconstruction pipeline + application.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132320" y="1554480"/>
            <a:ext cx="4572000" cy="1051560"/>
          </a:xfrm>
          <a:prstGeom prst="roundRect">
            <a:avLst>
              <a:gd name="adj" fmla="val 7826"/>
            </a:avLst>
          </a:prstGeom>
          <a:solidFill>
            <a:srgbClr val="EAF1FB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2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315200" y="1664208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563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cams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9144000" y="1664208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Stereo pair -&gt; metric depth via triangulation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132320" y="2743200"/>
            <a:ext cx="4572000" cy="1051560"/>
          </a:xfrm>
          <a:prstGeom prst="roundRect">
            <a:avLst>
              <a:gd name="adj" fmla="val 7826"/>
            </a:avLst>
          </a:prstGeom>
          <a:solidFill>
            <a:srgbClr val="EAF1FB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2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315200" y="2852928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563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 pts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9144000" y="2852928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skeleton (from MediaPipe's 33 landmarks)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132320" y="3931920"/>
            <a:ext cx="4572000" cy="1051560"/>
          </a:xfrm>
          <a:prstGeom prst="roundRect">
            <a:avLst>
              <a:gd name="adj" fmla="val 7826"/>
            </a:avLst>
          </a:prstGeom>
          <a:solidFill>
            <a:srgbClr val="EAF1FB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2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315200" y="4041648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563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9144000" y="4041648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 angles tracked per frame, in 3D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132320" y="5120640"/>
            <a:ext cx="4572000" cy="1051560"/>
          </a:xfrm>
          <a:prstGeom prst="roundRect">
            <a:avLst>
              <a:gd name="adj" fmla="val 7826"/>
            </a:avLst>
          </a:prstGeom>
          <a:solidFill>
            <a:srgbClr val="EAF1FB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2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315200" y="5230368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563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3D mm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9144000" y="5230368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units, not relative monocular depth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SportPose  ·  3D Stereo Motion Capture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1247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markerless 3D?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3611880" cy="4663440"/>
          </a:xfrm>
          <a:prstGeom prst="roundRect">
            <a:avLst>
              <a:gd name="adj" fmla="val 2278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7830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13232" y="2331720"/>
            <a:ext cx="320040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Marker-based mocap (Vicon, OptiTrack) is accurate but costly, lab-bound, needs suits + many cameras.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Single-camera 2D analysis can't measure true 3D joint angles - depth is lost.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Coaches want quantitative kinematics from ordinary hardware.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251960" y="1600200"/>
            <a:ext cx="3611880" cy="4663440"/>
          </a:xfrm>
          <a:prstGeom prst="roundRect">
            <a:avLst>
              <a:gd name="adj" fmla="val 2278"/>
            </a:avLst>
          </a:prstGeom>
          <a:solidFill>
            <a:srgbClr val="EAF1FB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2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480560" y="17830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approach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07992" y="2331720"/>
            <a:ext cx="320040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consumer cameras form a calibrated stereo rig.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Markerless: pose model finds joints - no suit.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Triangulation recovers metric 3D from the two views.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 as a web app: upload/record -&gt; analyze -&gt; visualize.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092440" y="1600200"/>
            <a:ext cx="3611880" cy="4663440"/>
          </a:xfrm>
          <a:prstGeom prst="roundRect">
            <a:avLst>
              <a:gd name="adj" fmla="val 2278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2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321040" y="17830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it's hard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348472" y="2331720"/>
            <a:ext cx="320040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cameras must be synchronized in time.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wide baseline must be accurately calibrated.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 detection noise propagates into 3D.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Left/right joint correspondence must be correct.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SportPose  ·  3D Stereo Motion Capture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723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24160" y="-822960"/>
            <a:ext cx="2926080" cy="2926080"/>
          </a:xfrm>
          <a:prstGeom prst="ellipse">
            <a:avLst/>
          </a:prstGeom>
          <a:solidFill>
            <a:srgbClr val="1F2F52"/>
          </a:solidFill>
          <a:ln w="12700">
            <a:solidFill>
              <a:srgbClr val="1F2F5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4937760"/>
            <a:ext cx="2743200" cy="2743200"/>
          </a:xfrm>
          <a:prstGeom prst="ellipse">
            <a:avLst/>
          </a:prstGeom>
          <a:solidFill>
            <a:srgbClr val="1F2F52"/>
          </a:solidFill>
          <a:ln w="12700">
            <a:solidFill>
              <a:srgbClr val="1F2F5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24688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5B7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2834640"/>
            <a:ext cx="10424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&amp; Setup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41248" y="379476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EC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Architecture, technology stack, camera rig, capture &amp; synchronization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1247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3108960" cy="1371600"/>
          </a:xfrm>
          <a:prstGeom prst="roundRect">
            <a:avLst>
              <a:gd name="adj" fmla="val 6000"/>
            </a:avLst>
          </a:prstGeom>
          <a:solidFill>
            <a:srgbClr val="EAF1FB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169164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- React 19 SPA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94360" y="2011680"/>
            <a:ext cx="2834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- TypeScript - Tailwind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Router - TanStack Query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ECharts - Canvas 3D viewer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0" y="1600200"/>
            <a:ext cx="3108960" cy="1371600"/>
          </a:xfrm>
          <a:prstGeom prst="roundRect">
            <a:avLst>
              <a:gd name="adj" fmla="val 6000"/>
            </a:avLst>
          </a:prstGeom>
          <a:solidFill>
            <a:srgbClr val="17233D"/>
          </a:solidFill>
          <a:ln w="12700">
            <a:solidFill>
              <a:srgbClr val="17233D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2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709160" y="169164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- FastAPI (Uvicorn)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709160" y="2011680"/>
            <a:ext cx="2834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6E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Routers: users - upload - pose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6E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- obs - ping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6E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 (HttpOnly cookie) - CORS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611880" y="2286000"/>
            <a:ext cx="914400" cy="0"/>
          </a:xfrm>
          <a:prstGeom prst="line">
            <a:avLst/>
          </a:prstGeom>
          <a:noFill/>
          <a:ln w="3175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3429000" y="1965960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- cookie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8686800" y="1600200"/>
            <a:ext cx="3063240" cy="13716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2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823960" y="16916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Engine (Python)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823960" y="201168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MediaPipe Pose Landmarker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 - NumPy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 - Triangulation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726680" y="2286000"/>
            <a:ext cx="914400" cy="0"/>
          </a:xfrm>
          <a:prstGeom prst="line">
            <a:avLst/>
          </a:prstGeom>
          <a:noFill/>
          <a:ln w="3175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2926080" y="4023360"/>
            <a:ext cx="2926080" cy="13716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2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063240" y="411480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C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063240" y="443484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Collections: users, videos,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pose_analysis (keypoints,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frames, angles, status)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309360" y="4023360"/>
            <a:ext cx="2926080" cy="13716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2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446520" y="411480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MinIO (S3 object store)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46520" y="443484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+ processed videos.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Accessed by clients via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1-hour presigned URLs.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120640" y="2971800"/>
            <a:ext cx="-548640" cy="105156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6949440" y="2971800"/>
            <a:ext cx="548640" cy="105156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4" name="Text 22"/>
          <p:cNvSpPr/>
          <p:nvPr/>
        </p:nvSpPr>
        <p:spPr>
          <a:xfrm>
            <a:off x="457200" y="580644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recap:  SPA - REST - JWT/HttpOnly cookie - object storage - presigned URL - document DB - synchronous processing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SportPose  ·  3D Stereo Motion Capture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1247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 &amp; keywords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3611880" cy="2148840"/>
          </a:xfrm>
          <a:prstGeom prst="roundRect">
            <a:avLst>
              <a:gd name="adj" fmla="val 383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58368" y="1801368"/>
            <a:ext cx="384048" cy="38404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80136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88720" y="178308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13232" y="2313432"/>
            <a:ext cx="32004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 + TypeScript, Vite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 v4, Framer Motion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TanStack Query (server cache)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ECharts + HTML Canvas (3D)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251960" y="1600200"/>
            <a:ext cx="3611880" cy="2148840"/>
          </a:xfrm>
          <a:prstGeom prst="roundRect">
            <a:avLst>
              <a:gd name="adj" fmla="val 383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453128" y="1801368"/>
            <a:ext cx="384048" cy="384048"/>
          </a:xfrm>
          <a:prstGeom prst="ellipse">
            <a:avLst/>
          </a:prstGeom>
          <a:solidFill>
            <a:srgbClr val="17233D"/>
          </a:solidFill>
          <a:ln w="12700">
            <a:solidFill>
              <a:srgbClr val="1723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53128" y="180136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983480" y="178308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07992" y="2313432"/>
            <a:ext cx="32004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Uvicorn (ASGI)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 models, CORS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PyMongo, python-dotenv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(PyJWT) + bcrypt auth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046720" y="1600200"/>
            <a:ext cx="3611880" cy="2148840"/>
          </a:xfrm>
          <a:prstGeom prst="roundRect">
            <a:avLst>
              <a:gd name="adj" fmla="val 383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2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47888" y="1801368"/>
            <a:ext cx="384048" cy="384048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47888" y="180136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778240" y="178308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vision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302752" y="2313432"/>
            <a:ext cx="32004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MediaPipe Tasks - Pose Landmarker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 (calibrate, triangulate)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 linear algebra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obsws / DroidCam capture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57200" y="3931920"/>
            <a:ext cx="3611880" cy="2148840"/>
          </a:xfrm>
          <a:prstGeom prst="roundRect">
            <a:avLst>
              <a:gd name="adj" fmla="val 383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2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8368" y="4133088"/>
            <a:ext cx="384048" cy="384048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8368" y="413308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188720" y="411480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13232" y="4645152"/>
            <a:ext cx="32004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- metadata &amp; results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MinIO - S3-compatible objects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Presigned URLs for playback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 files during processing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251960" y="3931920"/>
            <a:ext cx="3611880" cy="2148840"/>
          </a:xfrm>
          <a:prstGeom prst="roundRect">
            <a:avLst>
              <a:gd name="adj" fmla="val 383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2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453128" y="4133088"/>
            <a:ext cx="384048" cy="384048"/>
          </a:xfrm>
          <a:prstGeom prst="ellipse">
            <a:avLst/>
          </a:prstGeom>
          <a:solidFill>
            <a:srgbClr val="0E7C55"/>
          </a:solidFill>
          <a:ln w="12700">
            <a:solidFill>
              <a:srgbClr val="0E7C5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453128" y="413308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983480" y="411480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507992" y="4645152"/>
            <a:ext cx="32004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USB webcams (DirectShow)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IP-cams over WiFi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MJPEG live preview stream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cv2.VideoWriter (avc1/mp4v)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046720" y="3931920"/>
            <a:ext cx="3611880" cy="2148840"/>
          </a:xfrm>
          <a:prstGeom prst="roundRect">
            <a:avLst>
              <a:gd name="adj" fmla="val 383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2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247888" y="4133088"/>
            <a:ext cx="384048" cy="384048"/>
          </a:xfrm>
          <a:prstGeom prst="ellipse">
            <a:avLst/>
          </a:prstGeom>
          <a:solidFill>
            <a:srgbClr val="BE1E7A"/>
          </a:solidFill>
          <a:ln w="12700">
            <a:solidFill>
              <a:srgbClr val="BE1E7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247888" y="413308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778240" y="411480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 math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8302752" y="4645152"/>
            <a:ext cx="32004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Checkerboard detection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Intrinsics + distortion model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Stereo extrinsics (R, T)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DLT triangulation, plane fit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SportPose  ·  3D Stereo Motion Capture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1247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End-to-end pipeline at a glance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457200" cy="457200"/>
          </a:xfrm>
          <a:prstGeom prst="ellipse">
            <a:avLst/>
          </a:prstGeom>
          <a:solidFill>
            <a:srgbClr val="BE1E7A"/>
          </a:solidFill>
          <a:ln w="12700">
            <a:solidFill>
              <a:srgbClr val="BE1E7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00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234440" y="1572768"/>
            <a:ext cx="10424160" cy="548640"/>
          </a:xfrm>
          <a:prstGeom prst="roundRect">
            <a:avLst>
              <a:gd name="adj" fmla="val 15000"/>
            </a:avLst>
          </a:prstGeom>
          <a:solidFill>
            <a:srgbClr val="EAF1FB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2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417320" y="1572768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931920" y="1572768"/>
            <a:ext cx="7589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One-time: intrinsics, distortion, R, T from a checkerboard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77240" y="2103120"/>
            <a:ext cx="0" cy="91440"/>
          </a:xfrm>
          <a:prstGeom prst="line">
            <a:avLst/>
          </a:prstGeom>
          <a:noFill/>
          <a:ln w="25400">
            <a:solidFill>
              <a:srgbClr val="BE1E7A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548640" y="2203704"/>
            <a:ext cx="457200" cy="45720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20370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234440" y="2176272"/>
            <a:ext cx="10424160" cy="548640"/>
          </a:xfrm>
          <a:prstGeom prst="roundRect">
            <a:avLst>
              <a:gd name="adj" fmla="val 1500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2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417320" y="2176272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931920" y="2176272"/>
            <a:ext cx="7589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synchronized views -&gt; live preview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77240" y="2706624"/>
            <a:ext cx="0" cy="9144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48640" y="2807208"/>
            <a:ext cx="457200" cy="45720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28072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234440" y="2779776"/>
            <a:ext cx="10424160" cy="548640"/>
          </a:xfrm>
          <a:prstGeom prst="roundRect">
            <a:avLst>
              <a:gd name="adj" fmla="val 15000"/>
            </a:avLst>
          </a:prstGeom>
          <a:solidFill>
            <a:srgbClr val="EAF1FB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2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417320" y="2779776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+ store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931920" y="2779776"/>
            <a:ext cx="7589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Side-by-side MP4 -&gt; MinIO + MongoDB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77240" y="3310128"/>
            <a:ext cx="0" cy="9144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548640" y="3410712"/>
            <a:ext cx="457200" cy="457200"/>
          </a:xfrm>
          <a:prstGeom prst="ellipse">
            <a:avLst/>
          </a:prstGeom>
          <a:solidFill>
            <a:srgbClr val="17233D"/>
          </a:solidFill>
          <a:ln w="12700">
            <a:solidFill>
              <a:srgbClr val="17233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34107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234440" y="3383280"/>
            <a:ext cx="10424160" cy="548640"/>
          </a:xfrm>
          <a:prstGeom prst="roundRect">
            <a:avLst>
              <a:gd name="adj" fmla="val 1500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2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1417320" y="338328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+ route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3931920" y="3383280"/>
            <a:ext cx="7589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Stereo vs 2D path decided by metadata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77240" y="3913632"/>
            <a:ext cx="0" cy="91440"/>
          </a:xfrm>
          <a:prstGeom prst="line">
            <a:avLst/>
          </a:prstGeom>
          <a:noFill/>
          <a:ln w="25400">
            <a:solidFill>
              <a:srgbClr val="17233D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548640" y="4014216"/>
            <a:ext cx="457200" cy="457200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401421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234440" y="3986784"/>
            <a:ext cx="10424160" cy="548640"/>
          </a:xfrm>
          <a:prstGeom prst="roundRect">
            <a:avLst>
              <a:gd name="adj" fmla="val 15000"/>
            </a:avLst>
          </a:prstGeom>
          <a:solidFill>
            <a:srgbClr val="EAF1FB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2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1417320" y="3986784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 pose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3931920" y="3986784"/>
            <a:ext cx="7589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MediaPipe on each view -&gt; 18 keypoints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777240" y="4517136"/>
            <a:ext cx="0" cy="91440"/>
          </a:xfrm>
          <a:prstGeom prst="line">
            <a:avLst/>
          </a:prstGeom>
          <a:noFill/>
          <a:ln w="25400">
            <a:solidFill>
              <a:srgbClr val="0E7490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548640" y="4617720"/>
            <a:ext cx="457200" cy="457200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8640" y="4617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1234440" y="4590288"/>
            <a:ext cx="10424160" cy="548640"/>
          </a:xfrm>
          <a:prstGeom prst="roundRect">
            <a:avLst>
              <a:gd name="adj" fmla="val 1500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28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1417320" y="4590288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Triangulate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3931920" y="4590288"/>
            <a:ext cx="7589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Paired 2D -&gt; metric 3D (mm), left-cam frame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777240" y="5120640"/>
            <a:ext cx="0" cy="91440"/>
          </a:xfrm>
          <a:prstGeom prst="line">
            <a:avLst/>
          </a:prstGeom>
          <a:noFill/>
          <a:ln w="25400">
            <a:solidFill>
              <a:srgbClr val="0E7490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548640" y="5221224"/>
            <a:ext cx="457200" cy="457200"/>
          </a:xfrm>
          <a:prstGeom prst="ellipse">
            <a:avLst/>
          </a:prstGeom>
          <a:solidFill>
            <a:srgbClr val="0E7C55"/>
          </a:solidFill>
          <a:ln w="12700">
            <a:solidFill>
              <a:srgbClr val="0E7C5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48640" y="522122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1234440" y="5193792"/>
            <a:ext cx="10424160" cy="548640"/>
          </a:xfrm>
          <a:prstGeom prst="roundRect">
            <a:avLst>
              <a:gd name="adj" fmla="val 15000"/>
            </a:avLst>
          </a:prstGeom>
          <a:solidFill>
            <a:srgbClr val="EAF1FB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28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1417320" y="5193792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angles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3931920" y="5193792"/>
            <a:ext cx="7589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joint angles per frame + floor leveling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777240" y="5724144"/>
            <a:ext cx="0" cy="91440"/>
          </a:xfrm>
          <a:prstGeom prst="line">
            <a:avLst/>
          </a:prstGeom>
          <a:noFill/>
          <a:ln w="25400">
            <a:solidFill>
              <a:srgbClr val="0E7C55"/>
            </a:solidFill>
            <a:prstDash val="solid"/>
            <a:tailEnd type="triangle"/>
          </a:ln>
        </p:spPr>
      </p:sp>
      <p:sp>
        <p:nvSpPr>
          <p:cNvPr id="46" name="Shape 44"/>
          <p:cNvSpPr/>
          <p:nvPr/>
        </p:nvSpPr>
        <p:spPr>
          <a:xfrm>
            <a:off x="548640" y="5824728"/>
            <a:ext cx="457200" cy="457200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48640" y="58247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1234440" y="5797296"/>
            <a:ext cx="10424160" cy="548640"/>
          </a:xfrm>
          <a:prstGeom prst="roundRect">
            <a:avLst>
              <a:gd name="adj" fmla="val 1500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28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1417320" y="5797296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 + show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3931920" y="5797296"/>
            <a:ext cx="7589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stored -&gt; synchronized web visualization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SportPose  ·  3D Stereo Motion Capture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SETUP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1247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Physical camera rig (top-down)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280160" y="1737360"/>
            <a:ext cx="4206240" cy="4389120"/>
          </a:xfrm>
          <a:prstGeom prst="rect">
            <a:avLst/>
          </a:prstGeom>
          <a:solidFill>
            <a:srgbClr val="F1F5F9"/>
          </a:solidFill>
          <a:ln w="31750">
            <a:solidFill>
              <a:srgbClr val="1723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80160" y="137160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305 cm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 rot="5400000">
            <a:off x="5532120" y="1737360"/>
            <a:ext cx="82296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381 cm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166360" y="2240280"/>
            <a:ext cx="310896" cy="219456"/>
          </a:xfrm>
          <a:prstGeom prst="rect">
            <a:avLst/>
          </a:prstGeom>
          <a:solidFill>
            <a:srgbClr val="17233D"/>
          </a:solidFill>
          <a:ln w="12700">
            <a:solidFill>
              <a:srgbClr val="1723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16200000">
            <a:off x="5020056" y="2258568"/>
            <a:ext cx="164592" cy="182880"/>
          </a:xfrm>
          <a:prstGeom prst="triangle">
            <a:avLst/>
          </a:prstGeom>
          <a:solidFill>
            <a:srgbClr val="17233D"/>
          </a:solidFill>
          <a:ln/>
        </p:spPr>
      </p:sp>
      <p:sp>
        <p:nvSpPr>
          <p:cNvPr id="9" name="Text 7"/>
          <p:cNvSpPr/>
          <p:nvPr/>
        </p:nvSpPr>
        <p:spPr>
          <a:xfrm>
            <a:off x="4663440" y="1984248"/>
            <a:ext cx="822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 L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166360" y="5349240"/>
            <a:ext cx="310896" cy="219456"/>
          </a:xfrm>
          <a:prstGeom prst="rect">
            <a:avLst/>
          </a:prstGeom>
          <a:solidFill>
            <a:srgbClr val="17233D"/>
          </a:solidFill>
          <a:ln w="12700">
            <a:solidFill>
              <a:srgbClr val="17233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rot="16200000">
            <a:off x="5020056" y="5367528"/>
            <a:ext cx="164592" cy="182880"/>
          </a:xfrm>
          <a:prstGeom prst="triangle">
            <a:avLst/>
          </a:prstGeom>
          <a:solidFill>
            <a:srgbClr val="17233D"/>
          </a:solidFill>
          <a:ln/>
        </p:spPr>
      </p:sp>
      <p:sp>
        <p:nvSpPr>
          <p:cNvPr id="12" name="Text 10"/>
          <p:cNvSpPr/>
          <p:nvPr/>
        </p:nvSpPr>
        <p:spPr>
          <a:xfrm>
            <a:off x="4663440" y="5093208"/>
            <a:ext cx="822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 R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828800" y="3337560"/>
            <a:ext cx="1371600" cy="1371600"/>
          </a:xfrm>
          <a:prstGeom prst="rect">
            <a:avLst/>
          </a:prstGeom>
          <a:solidFill>
            <a:srgbClr val="FBE3E3"/>
          </a:solidFill>
          <a:ln w="25400">
            <a:solidFill>
              <a:srgbClr val="C0392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828800" y="333756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(athlete)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166360" y="2350008"/>
            <a:ext cx="-1965960" cy="1673352"/>
          </a:xfrm>
          <a:prstGeom prst="line">
            <a:avLst/>
          </a:prstGeom>
          <a:noFill/>
          <a:ln w="19050">
            <a:solidFill>
              <a:srgbClr val="2563EB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5166360" y="5458968"/>
            <a:ext cx="-1965960" cy="-1435608"/>
          </a:xfrm>
          <a:prstGeom prst="line">
            <a:avLst/>
          </a:prstGeom>
          <a:noFill/>
          <a:ln w="19050">
            <a:solidFill>
              <a:srgbClr val="2563EB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5321808" y="2350008"/>
            <a:ext cx="0" cy="3108960"/>
          </a:xfrm>
          <a:prstGeom prst="line">
            <a:avLst/>
          </a:prstGeom>
          <a:noFill/>
          <a:ln w="25400">
            <a:solidFill>
              <a:srgbClr val="BE1E7A"/>
            </a:solidFill>
            <a:prstDash val="sysDot"/>
          </a:ln>
        </p:spPr>
      </p:sp>
      <p:sp>
        <p:nvSpPr>
          <p:cNvPr id="18" name="Text 16"/>
          <p:cNvSpPr/>
          <p:nvPr/>
        </p:nvSpPr>
        <p:spPr>
          <a:xfrm>
            <a:off x="3931920" y="3611880"/>
            <a:ext cx="1051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E1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900" dirty="0"/>
          </a:p>
          <a:p>
            <a:pPr algn="r" indent="0" marL="0">
              <a:buNone/>
            </a:pPr>
            <a:r>
              <a:rPr lang="en-US" sz="900" b="1" dirty="0">
                <a:solidFill>
                  <a:srgbClr val="BE1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 3.6 m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400800" y="1600200"/>
            <a:ext cx="5349240" cy="4617720"/>
          </a:xfrm>
          <a:prstGeom prst="roundRect">
            <a:avLst>
              <a:gd name="adj" fmla="val 1782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2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629400" y="173736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 parameters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675120" y="2194560"/>
            <a:ext cx="489204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b="1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cameras fixed on the same wall, ~3.6 m apart (wide baseline).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Mounted ~2 m high, both tilted down toward the capture volume.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Convergent (verged) setup - optical axes meet in the shared volume, not parallel.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Athlete performs inside the overlapping field of view (the red box) - the only region both cameras see well.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Trade-off: a wide baseline gives better depth precision but makes calibration &amp; correspondence harder.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Consequence: the 3D is reconstructed in the LEFT camera's coordinate frame; a floor-leveling step re-orients it upright.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SportPose  ·  3D Stereo Motion Capture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SETUP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1247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Capture modes &amp; signal path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3611880" cy="2743200"/>
          </a:xfrm>
          <a:prstGeom prst="roundRect">
            <a:avLst>
              <a:gd name="adj" fmla="val 3000"/>
            </a:avLst>
          </a:prstGeom>
          <a:solidFill>
            <a:srgbClr val="EAF1FB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7373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USB mode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13232" y="2194560"/>
            <a:ext cx="32004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USB webcams via OpenCV + DirectShow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MJPG @ 1280x720, buffer size 1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Fails if a cam is held by OBS/Zoom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Config: CAMERA_LEFT/RIGHT_INDEX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251960" y="1600200"/>
            <a:ext cx="3611880" cy="2743200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2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480560" y="17373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(phone) mode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07992" y="2194560"/>
            <a:ext cx="32004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phones as IP cameras (DroidCam)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on its own WiFi stream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Avoids shared USB-bus contention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Config: PHONE_1_IP / PHONE_2_IP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046720" y="1600200"/>
            <a:ext cx="3611880" cy="2743200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2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275320" y="17373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available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302752" y="2194560"/>
            <a:ext cx="32004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 Studio start/stop via WebSocket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Nikon DSLR (offline) for clean 2D + validation reference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uploaded MP4/MOV/AVI -&gt; 2D path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4617720"/>
            <a:ext cx="11292840" cy="1600200"/>
          </a:xfrm>
          <a:prstGeom prst="roundRect">
            <a:avLst>
              <a:gd name="adj" fmla="val 514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2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58368" y="47091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path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22960" y="5074920"/>
            <a:ext cx="1600200" cy="868680"/>
          </a:xfrm>
          <a:prstGeom prst="roundRect">
            <a:avLst>
              <a:gd name="adj" fmla="val 6316"/>
            </a:avLst>
          </a:prstGeom>
          <a:solidFill>
            <a:srgbClr val="EAF1F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0392" y="5074920"/>
            <a:ext cx="154533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423160" y="5504688"/>
            <a:ext cx="256032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2679192" y="5074920"/>
            <a:ext cx="1600200" cy="868680"/>
          </a:xfrm>
          <a:prstGeom prst="roundRect">
            <a:avLst>
              <a:gd name="adj" fmla="val 6316"/>
            </a:avLst>
          </a:prstGeom>
          <a:solidFill>
            <a:srgbClr val="EAF1F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06624" y="5074920"/>
            <a:ext cx="154533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Grab thread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 then R)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279392" y="5504688"/>
            <a:ext cx="256032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4535424" y="5074920"/>
            <a:ext cx="160020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62856" y="5074920"/>
            <a:ext cx="154533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side-by-side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135624" y="5504688"/>
            <a:ext cx="256032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6391656" y="5074920"/>
            <a:ext cx="160020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19088" y="5074920"/>
            <a:ext cx="154533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MJPEG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preview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7991856" y="5504688"/>
            <a:ext cx="256032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8247888" y="5074920"/>
            <a:ext cx="160020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75320" y="5074920"/>
            <a:ext cx="154533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VideoWriter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MP4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9848088" y="5504688"/>
            <a:ext cx="256032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10104120" y="5074920"/>
            <a:ext cx="160020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131552" y="5074920"/>
            <a:ext cx="154533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-&gt;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MinIO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SportPose  ·  3D Stereo Motion Capture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 · CAPTURE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1247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Capture &amp; synchronization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5486400" cy="4617720"/>
          </a:xfrm>
          <a:prstGeom prst="roundRect">
            <a:avLst>
              <a:gd name="adj" fmla="val 1782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58368" y="173736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synchronized pair is formed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13232" y="2194560"/>
            <a:ext cx="502920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background thread reads both cameras sequentially: read(L) then read(R).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Buffer size = 1 to keep only the freshest frame (low latency).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Last-good frame from each side is cached; newest (L, R, timestamp) is published.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preview served as an MJPEG multipart stream.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 capture uses the tighter grab()+grab() -&gt; retrieve() pattern.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13232" y="45262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 (one capture cycle)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822960" y="5029200"/>
            <a:ext cx="475488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05840" y="4864608"/>
            <a:ext cx="548640" cy="32918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5230368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L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103120" y="4864608"/>
            <a:ext cx="548640" cy="329184"/>
          </a:xfrm>
          <a:prstGeom prst="rect">
            <a:avLst/>
          </a:prstGeom>
          <a:solidFill>
            <a:srgbClr val="BE1E7A"/>
          </a:solidFill>
          <a:ln/>
        </p:spPr>
      </p:sp>
      <p:sp>
        <p:nvSpPr>
          <p:cNvPr id="12" name="Text 10"/>
          <p:cNvSpPr/>
          <p:nvPr/>
        </p:nvSpPr>
        <p:spPr>
          <a:xfrm>
            <a:off x="2057400" y="5230368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E1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R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554480" y="4572000"/>
            <a:ext cx="548640" cy="0"/>
          </a:xfrm>
          <a:prstGeom prst="line">
            <a:avLst/>
          </a:prstGeom>
          <a:noFill/>
          <a:ln w="19050">
            <a:solidFill>
              <a:srgbClr val="C0392B"/>
            </a:solidFill>
            <a:prstDash val="solid"/>
            <a:headEnd type="triangle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1280160" y="427939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 offset (a few ms)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126480" y="1600200"/>
            <a:ext cx="5623560" cy="4617720"/>
          </a:xfrm>
          <a:prstGeom prst="roundRect">
            <a:avLst>
              <a:gd name="adj" fmla="val 1782"/>
            </a:avLst>
          </a:prstGeom>
          <a:solidFill>
            <a:srgbClr val="FDEEE9"/>
          </a:solidFill>
          <a:ln w="12700">
            <a:solidFill>
              <a:srgbClr val="C0392B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2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355080" y="1755648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 Software sync - the key limitation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382512" y="2240280"/>
            <a:ext cx="516636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hardware-genlocked. The L/R frames are a few ms-tens of ms apart, and the offset varies under load.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b="1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Triangulation error ~ motion_speed x dt. Worst on fast limbs; negligible on slow/still motion.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20 ms offset, wrist at 2 m/s -&gt; ~4 cm apparent displacement between views.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Recording uses read()/read() - looser than the grab()/retrieve() used in calibration (an easy internal fix).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 fixes: hardware genlock / external trigger, or timestamp each stream and interpolate to a common clock.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SportPose  ·  3D Stereo Motion Capture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 · RECORD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1247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Recording &amp; storage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5120640" cy="2377440"/>
          </a:xfrm>
          <a:prstGeom prst="roundRect">
            <a:avLst>
              <a:gd name="adj" fmla="val 3462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58368" y="1810512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Side-by-side composite frame (one file)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777240" y="2286000"/>
            <a:ext cx="2240280" cy="1600200"/>
          </a:xfrm>
          <a:prstGeom prst="rect">
            <a:avLst/>
          </a:prstGeom>
          <a:solidFill>
            <a:srgbClr val="EAF1FB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971800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view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017520" y="2286000"/>
            <a:ext cx="2240280" cy="1600200"/>
          </a:xfrm>
          <a:prstGeom prst="rect">
            <a:avLst/>
          </a:prstGeom>
          <a:solidFill>
            <a:srgbClr val="FBEAF3"/>
          </a:solidFill>
          <a:ln w="19050">
            <a:solidFill>
              <a:srgbClr val="BE1E7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017520" y="2971800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E1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view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77240" y="3913632"/>
            <a:ext cx="4480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cv2.hconcat  -&gt;  one MP4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4251960"/>
            <a:ext cx="5120640" cy="1965960"/>
          </a:xfrm>
          <a:prstGeom prst="roundRect">
            <a:avLst>
              <a:gd name="adj" fmla="val 4186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2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58368" y="4361688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pacing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13232" y="4709160"/>
            <a:ext cx="466344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Writer paced to the wall clock: expected = elapsed x fps.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Duplicates the latest frame to catch up so duration is correct.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Caveat: fps is nominal - under-delivery -&gt; repeated frames (zero-velocity artifacts).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806440" y="1691640"/>
            <a:ext cx="5943600" cy="4526280"/>
          </a:xfrm>
          <a:prstGeom prst="roundRect">
            <a:avLst>
              <a:gd name="adj" fmla="val 1818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2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035040" y="18288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gets stored, and where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035040" y="228600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MinIO (object store)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089904" y="2606040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recording, then the processed overlay video.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UUID object names; retrieved via 1-hour presigned URLs.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035040" y="352044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7C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- videos document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089904" y="3840480"/>
            <a:ext cx="54864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user_id, bucket, object_name, filename, size, uploaded_at.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Stereo tags: source='stereo_camera', layout='side_by_side', fps, frames.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tags later route the clip to the 3D pipeline.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089904" y="5120640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Keywords: composite frame - wall-clock pacing - object storage - presigned URL - metadata tagging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SportPose  ·  3D Stereo Motion Capture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723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24160" y="-822960"/>
            <a:ext cx="2926080" cy="2926080"/>
          </a:xfrm>
          <a:prstGeom prst="ellipse">
            <a:avLst/>
          </a:prstGeom>
          <a:solidFill>
            <a:srgbClr val="1F2F52"/>
          </a:solidFill>
          <a:ln w="12700">
            <a:solidFill>
              <a:srgbClr val="1F2F5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4937760"/>
            <a:ext cx="2743200" cy="2743200"/>
          </a:xfrm>
          <a:prstGeom prst="ellipse">
            <a:avLst/>
          </a:prstGeom>
          <a:solidFill>
            <a:srgbClr val="1F2F52"/>
          </a:solidFill>
          <a:ln w="12700">
            <a:solidFill>
              <a:srgbClr val="1F2F5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24688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5B7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2834640"/>
            <a:ext cx="10424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Calibration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41248" y="379476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EC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the system the geometry of the two cameras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 · CONCEPT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1247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calibration recovers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5486400" cy="2194560"/>
          </a:xfrm>
          <a:prstGeom prst="roundRect">
            <a:avLst>
              <a:gd name="adj" fmla="val 375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58368" y="1801368"/>
            <a:ext cx="402336" cy="40233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80136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207008" y="17830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Intrinsics (K)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07008" y="21488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camera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13232" y="2468880"/>
            <a:ext cx="493776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Focal length + optical/principal point.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this lens maps the world onto pixels.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63640" y="1600200"/>
            <a:ext cx="5486400" cy="2194560"/>
          </a:xfrm>
          <a:prstGeom prst="roundRect">
            <a:avLst>
              <a:gd name="adj" fmla="val 375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2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64808" y="1801368"/>
            <a:ext cx="402336" cy="402336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64808" y="180136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013448" y="17830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Distortion (D)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013448" y="21488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camera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519672" y="2468880"/>
            <a:ext cx="493776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Radial + tangential lens bending.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Mathematically undone before triangulating.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931920"/>
            <a:ext cx="5486400" cy="2194560"/>
          </a:xfrm>
          <a:prstGeom prst="roundRect">
            <a:avLst>
              <a:gd name="adj" fmla="val 375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2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58368" y="4133088"/>
            <a:ext cx="402336" cy="402336"/>
          </a:xfrm>
          <a:prstGeom prst="ellipse">
            <a:avLst/>
          </a:prstGeom>
          <a:solidFill>
            <a:srgbClr val="BE1E7A"/>
          </a:solidFill>
          <a:ln w="12700">
            <a:solidFill>
              <a:srgbClr val="BE1E7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" y="413308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207008" y="41148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Extrinsics (R, T)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207008" y="44805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between cameras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713232" y="4800600"/>
            <a:ext cx="493776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Rotation R and translation T of the right camera relative to the left.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is in millimetres (set by square size).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263640" y="3931920"/>
            <a:ext cx="5486400" cy="2194560"/>
          </a:xfrm>
          <a:prstGeom prst="roundRect">
            <a:avLst>
              <a:gd name="adj" fmla="val 375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2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464808" y="4133088"/>
            <a:ext cx="402336" cy="402336"/>
          </a:xfrm>
          <a:prstGeom prst="ellipse">
            <a:avLst/>
          </a:prstGeom>
          <a:solidFill>
            <a:srgbClr val="0E7C55"/>
          </a:solidFill>
          <a:ln w="12700">
            <a:solidFill>
              <a:srgbClr val="0E7C5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64808" y="413308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013448" y="41148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7013448" y="44805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payoff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519672" y="4800600"/>
            <a:ext cx="493776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with K, D, R, T can two 2D points be intersected into one correct 3D point.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 here tilt/skew the whole skeleton.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SportPose  ·  3D Stereo Motion Capture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 · PROCESS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1247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Calibration procedure (offline, one-time)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72768"/>
            <a:ext cx="420624" cy="42062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57276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143000" y="1554480"/>
            <a:ext cx="10607040" cy="566928"/>
          </a:xfrm>
          <a:prstGeom prst="roundRect">
            <a:avLst>
              <a:gd name="adj" fmla="val 14516"/>
            </a:avLst>
          </a:prstGeom>
          <a:solidFill>
            <a:srgbClr val="EAF1FB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2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325880" y="1554480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target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840480" y="1554480"/>
            <a:ext cx="7772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9x6 inner-corner checkerboard, 40 mm squares. Known geometry sets the metric scale.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58952" y="2103120"/>
            <a:ext cx="0" cy="9144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548640" y="2221992"/>
            <a:ext cx="420624" cy="42062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22199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2203704"/>
            <a:ext cx="10607040" cy="566928"/>
          </a:xfrm>
          <a:prstGeom prst="roundRect">
            <a:avLst>
              <a:gd name="adj" fmla="val 14516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2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325880" y="2203704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corners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840480" y="2203704"/>
            <a:ext cx="7772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findChessboardCorners + sub-pixel cornerSubPix, in BOTH views simultaneously.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58952" y="2752344"/>
            <a:ext cx="0" cy="9144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48640" y="2871216"/>
            <a:ext cx="420624" cy="42062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2871216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143000" y="2852928"/>
            <a:ext cx="10607040" cy="566928"/>
          </a:xfrm>
          <a:prstGeom prst="roundRect">
            <a:avLst>
              <a:gd name="adj" fmla="val 14516"/>
            </a:avLst>
          </a:prstGeom>
          <a:solidFill>
            <a:srgbClr val="EAF1FB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2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325880" y="2852928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~20 pairs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840480" y="2852928"/>
            <a:ext cx="7772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 stores a pair only if the board is found in both views; vary pose/tilt/distance.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758952" y="3401568"/>
            <a:ext cx="0" cy="9144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548640" y="3520440"/>
            <a:ext cx="420624" cy="42062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352044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143000" y="3502152"/>
            <a:ext cx="10607040" cy="566928"/>
          </a:xfrm>
          <a:prstGeom prst="roundRect">
            <a:avLst>
              <a:gd name="adj" fmla="val 14516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2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1325880" y="3502152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Per-camera solve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840480" y="3502152"/>
            <a:ext cx="7772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cv2.calibrateCamera -&gt; K, D and a left/right RMS for each camera.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758952" y="4050792"/>
            <a:ext cx="0" cy="9144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548640" y="4169664"/>
            <a:ext cx="420624" cy="42062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4169664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143000" y="4151376"/>
            <a:ext cx="10607040" cy="566928"/>
          </a:xfrm>
          <a:prstGeom prst="roundRect">
            <a:avLst>
              <a:gd name="adj" fmla="val 14516"/>
            </a:avLst>
          </a:prstGeom>
          <a:solidFill>
            <a:srgbClr val="EAF1FB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2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1325880" y="4151376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Stereo solve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3840480" y="4151376"/>
            <a:ext cx="7772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cv2.stereoCalibrateExtended (FIX_INTRINSIC) -&gt; R, T + per-pair errors.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758952" y="4700016"/>
            <a:ext cx="0" cy="9144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548640" y="4818888"/>
            <a:ext cx="420624" cy="420624"/>
          </a:xfrm>
          <a:prstGeom prst="ellipse">
            <a:avLst/>
          </a:prstGeom>
          <a:solidFill>
            <a:srgbClr val="0E7C55"/>
          </a:solidFill>
          <a:ln w="12700">
            <a:solidFill>
              <a:srgbClr val="0E7C5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8640" y="481888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1143000" y="4800600"/>
            <a:ext cx="10607040" cy="566928"/>
          </a:xfrm>
          <a:prstGeom prst="roundRect">
            <a:avLst>
              <a:gd name="adj" fmla="val 14516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28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1325880" y="4800600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 + refit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3840480" y="4800600"/>
            <a:ext cx="7772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outlier pairs, recalibrate on survivors (next slide).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758952" y="5349240"/>
            <a:ext cx="0" cy="9144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548640" y="5468112"/>
            <a:ext cx="420624" cy="420624"/>
          </a:xfrm>
          <a:prstGeom prst="ellipse">
            <a:avLst/>
          </a:prstGeom>
          <a:solidFill>
            <a:srgbClr val="0E7C55"/>
          </a:solidFill>
          <a:ln w="12700">
            <a:solidFill>
              <a:srgbClr val="0E7C5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48640" y="546811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1143000" y="5449824"/>
            <a:ext cx="10607040" cy="566928"/>
          </a:xfrm>
          <a:prstGeom prst="roundRect">
            <a:avLst>
              <a:gd name="adj" fmla="val 14516"/>
            </a:avLst>
          </a:prstGeom>
          <a:solidFill>
            <a:srgbClr val="EAF1FB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28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1325880" y="5449824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3840480" y="5449824"/>
            <a:ext cx="7772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calibration.npz: K1,D1,K2,D2,R,T, sizes, RMS, square size (+ floor R_level).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SportPose  ·  3D Stereo Motion Capture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 · QUALITY CONTROL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1247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bad image pairs are removed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5577840" cy="4617720"/>
          </a:xfrm>
          <a:prstGeom prst="roundRect">
            <a:avLst>
              <a:gd name="adj" fmla="val 1782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58368" y="1783080"/>
            <a:ext cx="402336" cy="40233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78308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88720" y="1783080"/>
            <a:ext cx="4663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1 - at capture (prevention)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2331720"/>
            <a:ext cx="50292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pair is stored only if the checkerboard is detected in BOTH views on a fresh synced grab.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board isn't cleanly visible in both -&gt; the pair is never added.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58368" y="3794760"/>
            <a:ext cx="402336" cy="402336"/>
          </a:xfrm>
          <a:prstGeom prst="ellipse">
            <a:avLst/>
          </a:prstGeom>
          <a:solidFill>
            <a:srgbClr val="0E7C55"/>
          </a:solidFill>
          <a:ln w="12700">
            <a:solidFill>
              <a:srgbClr val="0E7C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379476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188720" y="3794760"/>
            <a:ext cx="4663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2 - at calibration (outliers)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31520" y="4343400"/>
            <a:ext cx="50292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stereoCalibrateExtended returns a per-pair reprojection error.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b="1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= max(1.0 px, 1.5 x median error).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Pairs above threshold are dropped; recalibrate on the rest - only if &gt;= 8 good pairs remain.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17920" y="1600200"/>
            <a:ext cx="5532120" cy="2514600"/>
          </a:xfrm>
          <a:prstGeom prst="roundRect">
            <a:avLst>
              <a:gd name="adj" fmla="val 3273"/>
            </a:avLst>
          </a:prstGeom>
          <a:solidFill>
            <a:srgbClr val="EAF1FB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2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46520" y="173736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Reprojection error (the metric)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492240" y="2148840"/>
            <a:ext cx="50749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the reconstructed 3D board points back into the image.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pixel distance to the actually-detected corners.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b="1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 of those distances summarizes the fit - lower is better; target &lt; 1.0 px.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17920" y="4251960"/>
            <a:ext cx="5532120" cy="1965960"/>
          </a:xfrm>
          <a:prstGeom prst="roundRect">
            <a:avLst>
              <a:gd name="adj" fmla="val 4186"/>
            </a:avLst>
          </a:prstGeom>
          <a:solidFill>
            <a:srgbClr val="FDEEE9"/>
          </a:solidFill>
          <a:ln w="12700">
            <a:solidFill>
              <a:srgbClr val="C0392B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2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46520" y="4370832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caveat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92240" y="4754880"/>
            <a:ext cx="50749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median x 1.5 rule is a practical filter, not a formal robust estimator (MAD/z-score would be stronger).</a:t>
            </a:r>
            <a:endParaRPr lang="en-US" sz="11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Currently evaluated on the same pairs used to fit - no held-out set yet.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SportPose  ·  3D Stereo Motion Capture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 · REALITY CHECK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1247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Quality metrics &amp; the wide-baseline challenge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2651760" cy="13716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0E7C55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78308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E7C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 1.0 px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48640" y="2395728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stereo RMS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246120" y="1645920"/>
            <a:ext cx="2651760" cy="13716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C0392B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2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337560" y="178308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~4.2 px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3337560" y="2395728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stereo RMS (to fix)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035040" y="1645920"/>
            <a:ext cx="2651760" cy="13716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17233D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2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126480" y="178308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7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3.6 m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6126480" y="2395728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baseline (measured)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869680" y="1645920"/>
            <a:ext cx="2651760" cy="13716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2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961120" y="178308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563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+-15%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8961120" y="2395728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sanity-check band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3246120"/>
            <a:ext cx="5577840" cy="2971800"/>
          </a:xfrm>
          <a:prstGeom prst="roundRect">
            <a:avLst>
              <a:gd name="adj" fmla="val 2769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2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58368" y="3364992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our RMS is high right now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713232" y="3749040"/>
            <a:ext cx="51206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3.6 m baseline calibrated with a small 40 cm board -&gt; few pixels per corner.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Steep convergence angle -&gt; the board is foreshortened in at least one view.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b="1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Per-camera RMS was fine (1.6 / 0.27 px) but stereo RMS was ~4.2 -&gt; a synchronization / correspondence issue, not a lens issue.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per-pair median of 5.6 px meant most pairs were bad, not just outliers.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17920" y="3246120"/>
            <a:ext cx="5532120" cy="2971800"/>
          </a:xfrm>
          <a:prstGeom prst="roundRect">
            <a:avLst>
              <a:gd name="adj" fmla="val 2769"/>
            </a:avLst>
          </a:prstGeom>
          <a:solidFill>
            <a:srgbClr val="EAF1FB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2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446520" y="3364992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Fixes in progress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492240" y="3749040"/>
            <a:ext cx="51206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Larger / higher-resolution calibration target.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the board perfectly still; keep both cameras rigid.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baseline sanity check: |T| vs measured 3.6 m, warns if &gt;15% off.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floor-leveling to fix orientation independently.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b="1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Realistic goal for this rig: ~1-1.5 px.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SportPose  ·  3D Stereo Motion Capture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 · LEVELING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1247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Floor leveling - standing the skeleton upright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5486400" cy="4526280"/>
          </a:xfrm>
          <a:prstGeom prst="roundRect">
            <a:avLst>
              <a:gd name="adj" fmla="val 1818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4206240"/>
            <a:ext cx="1828800" cy="-640080"/>
          </a:xfrm>
          <a:prstGeom prst="line">
            <a:avLst/>
          </a:prstGeom>
          <a:noFill/>
          <a:ln w="25400">
            <a:solidFill>
              <a:srgbClr val="64748B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 rot="1200000">
            <a:off x="1417320" y="2468880"/>
            <a:ext cx="457200" cy="12801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434340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tilted down -&gt;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skeleton appears tilted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3108960"/>
            <a:ext cx="822960" cy="0"/>
          </a:xfrm>
          <a:prstGeom prst="line">
            <a:avLst/>
          </a:prstGeom>
          <a:noFill/>
          <a:ln w="38100">
            <a:solidFill>
              <a:srgbClr val="0E7C55"/>
            </a:solidFill>
            <a:prstDash val="solid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2834640" y="278892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0E7C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R_level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023360" y="3840480"/>
            <a:ext cx="1737360" cy="0"/>
          </a:xfrm>
          <a:prstGeom prst="line">
            <a:avLst/>
          </a:prstGeom>
          <a:noFill/>
          <a:ln w="25400">
            <a:solidFill>
              <a:srgbClr val="0E7C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63440" y="2468880"/>
            <a:ext cx="457200" cy="1325880"/>
          </a:xfrm>
          <a:prstGeom prst="rect">
            <a:avLst/>
          </a:prstGeom>
          <a:solidFill>
            <a:srgbClr val="0E7C55"/>
          </a:solidFill>
          <a:ln/>
        </p:spPr>
      </p:sp>
      <p:sp>
        <p:nvSpPr>
          <p:cNvPr id="12" name="Text 10"/>
          <p:cNvSpPr/>
          <p:nvPr/>
        </p:nvSpPr>
        <p:spPr>
          <a:xfrm>
            <a:off x="4114800" y="397764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7C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Leveled &amp;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E7C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upright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217920" y="1691640"/>
            <a:ext cx="5532120" cy="4526280"/>
          </a:xfrm>
          <a:prstGeom prst="roundRect">
            <a:avLst>
              <a:gd name="adj" fmla="val 1818"/>
            </a:avLst>
          </a:prstGeom>
          <a:solidFill>
            <a:srgbClr val="EAF1FB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2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46520" y="182880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92240" y="2331720"/>
            <a:ext cx="512064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 the checkerboard flat on the floor; capture it in both cameras (press 'f').</a:t>
            </a:r>
            <a:endParaRPr lang="en-US" sz="125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Triangulate its corners -&gt; fit a plane -&gt; the plane normal is 'up'.</a:t>
            </a:r>
            <a:endParaRPr lang="en-US" sz="125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a rotation R_level that maps that normal to the vertical axis.</a:t>
            </a:r>
            <a:endParaRPr lang="en-US" sz="125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R_level in calibration.npz; apply it to every 3D frame at analysis time.</a:t>
            </a:r>
            <a:endParaRPr lang="en-US" sz="125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250" b="1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 ANGLES are rotation-invariant, so leveling changes only the display orientation - never the measured numbers.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SportPose  ·  3D Stereo Motion Capture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723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24160" y="-822960"/>
            <a:ext cx="2926080" cy="2926080"/>
          </a:xfrm>
          <a:prstGeom prst="ellipse">
            <a:avLst/>
          </a:prstGeom>
          <a:solidFill>
            <a:srgbClr val="1F2F52"/>
          </a:solidFill>
          <a:ln w="12700">
            <a:solidFill>
              <a:srgbClr val="1F2F5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4937760"/>
            <a:ext cx="2743200" cy="2743200"/>
          </a:xfrm>
          <a:prstGeom prst="ellipse">
            <a:avLst/>
          </a:prstGeom>
          <a:solidFill>
            <a:srgbClr val="1F2F52"/>
          </a:solidFill>
          <a:ln w="12700">
            <a:solidFill>
              <a:srgbClr val="1F2F5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24688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5B7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2834640"/>
            <a:ext cx="10424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3D Pipeline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41248" y="379476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EC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pixels to metric 3D joint angles, then to the screen</a:t>
            </a:r>
            <a:endParaRPr lang="en-US" sz="1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4 · 2D POSE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1247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2D pose estimation (per view)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5577840" cy="4617720"/>
          </a:xfrm>
          <a:prstGeom prst="roundRect">
            <a:avLst>
              <a:gd name="adj" fmla="val 1782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58368" y="173736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MediaPipe Pose Landmarker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13232" y="2212848"/>
            <a:ext cx="512064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 API, VIDEO running mode, model file pose_landmarker.task.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frame: BGR-&gt;RGB -&gt; detect_for_video with a 30 fps-locked timestamp.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33 landmarks; we remap to a custom 18-point skeleton and synthesize a NECK = midpoint of the two shoulders.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Keypoints stored NORMALIZED [x, y, presence] in 0-1.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b="1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stereo, this runs twice - left half and right half - with temporal healing OFF.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do NOT use MediaPipe's z (monocular, relative). Real depth comes from triangulation.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217920" y="1600200"/>
            <a:ext cx="5532120" cy="4617720"/>
          </a:xfrm>
          <a:prstGeom prst="roundRect">
            <a:avLst>
              <a:gd name="adj" fmla="val 1782"/>
            </a:avLst>
          </a:prstGeom>
          <a:solidFill>
            <a:srgbClr val="EAF1FB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2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46520" y="173736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 landmarks -&gt; 18-point skeleton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537960" y="2286000"/>
            <a:ext cx="2011680" cy="640080"/>
          </a:xfrm>
          <a:prstGeom prst="roundRect">
            <a:avLst>
              <a:gd name="adj" fmla="val 8571"/>
            </a:avLst>
          </a:prstGeom>
          <a:solidFill>
            <a:srgbClr val="F8FAFC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65392" y="2286000"/>
            <a:ext cx="195681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MediaPipe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 landmarks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641080" y="2606040"/>
            <a:ext cx="502920" cy="0"/>
          </a:xfrm>
          <a:prstGeom prst="line">
            <a:avLst/>
          </a:prstGeom>
          <a:noFill/>
          <a:ln w="3175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9235440" y="2286000"/>
            <a:ext cx="233172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262872" y="2286000"/>
            <a:ext cx="227685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Remap + synth neck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18 keypoints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006840" y="3284525"/>
            <a:ext cx="0" cy="321869"/>
          </a:xfrm>
          <a:prstGeom prst="line">
            <a:avLst/>
          </a:prstGeom>
          <a:noFill/>
          <a:ln w="31750">
            <a:solidFill>
              <a:srgbClr val="64748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821217" y="4659782"/>
            <a:ext cx="371246" cy="0"/>
          </a:xfrm>
          <a:prstGeom prst="line">
            <a:avLst/>
          </a:prstGeom>
          <a:noFill/>
          <a:ln w="31750">
            <a:solidFill>
              <a:srgbClr val="64748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006840" y="3606394"/>
            <a:ext cx="-318211" cy="58522"/>
          </a:xfrm>
          <a:prstGeom prst="line">
            <a:avLst/>
          </a:prstGeom>
          <a:noFill/>
          <a:ln w="31750">
            <a:solidFill>
              <a:srgbClr val="2563E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688629" y="3664915"/>
            <a:ext cx="-185623" cy="438912"/>
          </a:xfrm>
          <a:prstGeom prst="line">
            <a:avLst/>
          </a:prstGeom>
          <a:noFill/>
          <a:ln w="31750">
            <a:solidFill>
              <a:srgbClr val="2563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503006" y="4103827"/>
            <a:ext cx="-106070" cy="409651"/>
          </a:xfrm>
          <a:prstGeom prst="line">
            <a:avLst/>
          </a:prstGeom>
          <a:noFill/>
          <a:ln w="31750">
            <a:solidFill>
              <a:srgbClr val="2563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396935" y="4513478"/>
            <a:ext cx="-53035" cy="204826"/>
          </a:xfrm>
          <a:prstGeom prst="line">
            <a:avLst/>
          </a:prstGeom>
          <a:noFill/>
          <a:ln w="31750">
            <a:solidFill>
              <a:srgbClr val="2563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688629" y="3664915"/>
            <a:ext cx="132588" cy="994867"/>
          </a:xfrm>
          <a:prstGeom prst="line">
            <a:avLst/>
          </a:prstGeom>
          <a:noFill/>
          <a:ln w="31750">
            <a:solidFill>
              <a:srgbClr val="2563E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821217" y="4659782"/>
            <a:ext cx="-53035" cy="526694"/>
          </a:xfrm>
          <a:prstGeom prst="line">
            <a:avLst/>
          </a:prstGeom>
          <a:noFill/>
          <a:ln w="31750">
            <a:solidFill>
              <a:srgbClr val="2563E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768182" y="5186477"/>
            <a:ext cx="-26518" cy="526694"/>
          </a:xfrm>
          <a:prstGeom prst="line">
            <a:avLst/>
          </a:prstGeom>
          <a:noFill/>
          <a:ln w="31750">
            <a:solidFill>
              <a:srgbClr val="2563E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741664" y="5713171"/>
            <a:ext cx="-106070" cy="175565"/>
          </a:xfrm>
          <a:prstGeom prst="line">
            <a:avLst/>
          </a:prstGeom>
          <a:noFill/>
          <a:ln w="31750">
            <a:solidFill>
              <a:srgbClr val="2563E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006840" y="3606394"/>
            <a:ext cx="318211" cy="58522"/>
          </a:xfrm>
          <a:prstGeom prst="line">
            <a:avLst/>
          </a:prstGeom>
          <a:noFill/>
          <a:ln w="31750">
            <a:solidFill>
              <a:srgbClr val="BE1E7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325051" y="3664915"/>
            <a:ext cx="185623" cy="438912"/>
          </a:xfrm>
          <a:prstGeom prst="line">
            <a:avLst/>
          </a:prstGeom>
          <a:noFill/>
          <a:ln w="31750">
            <a:solidFill>
              <a:srgbClr val="BE1E7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510674" y="4103827"/>
            <a:ext cx="106070" cy="409651"/>
          </a:xfrm>
          <a:prstGeom prst="line">
            <a:avLst/>
          </a:prstGeom>
          <a:noFill/>
          <a:ln w="31750">
            <a:solidFill>
              <a:srgbClr val="BE1E7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616745" y="4513478"/>
            <a:ext cx="53035" cy="204826"/>
          </a:xfrm>
          <a:prstGeom prst="line">
            <a:avLst/>
          </a:prstGeom>
          <a:noFill/>
          <a:ln w="31750">
            <a:solidFill>
              <a:srgbClr val="BE1E7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325051" y="3664915"/>
            <a:ext cx="-132588" cy="994867"/>
          </a:xfrm>
          <a:prstGeom prst="line">
            <a:avLst/>
          </a:prstGeom>
          <a:noFill/>
          <a:ln w="31750">
            <a:solidFill>
              <a:srgbClr val="BE1E7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192463" y="4659782"/>
            <a:ext cx="53035" cy="526694"/>
          </a:xfrm>
          <a:prstGeom prst="line">
            <a:avLst/>
          </a:prstGeom>
          <a:noFill/>
          <a:ln w="31750">
            <a:solidFill>
              <a:srgbClr val="BE1E7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245498" y="5186477"/>
            <a:ext cx="26518" cy="526694"/>
          </a:xfrm>
          <a:prstGeom prst="line">
            <a:avLst/>
          </a:prstGeom>
          <a:noFill/>
          <a:ln w="31750">
            <a:solidFill>
              <a:srgbClr val="BE1E7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272016" y="5713171"/>
            <a:ext cx="106070" cy="175565"/>
          </a:xfrm>
          <a:prstGeom prst="line">
            <a:avLst/>
          </a:prstGeom>
          <a:noFill/>
          <a:ln w="31750">
            <a:solidFill>
              <a:srgbClr val="BE1E7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965692" y="3243377"/>
            <a:ext cx="82296" cy="82296"/>
          </a:xfrm>
          <a:prstGeom prst="ellipse">
            <a:avLst/>
          </a:prstGeom>
          <a:solidFill>
            <a:srgbClr val="17233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965692" y="3565246"/>
            <a:ext cx="82296" cy="82296"/>
          </a:xfrm>
          <a:prstGeom prst="ellipse">
            <a:avLst/>
          </a:prstGeom>
          <a:solidFill>
            <a:srgbClr val="17233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647481" y="3623767"/>
            <a:ext cx="82296" cy="82296"/>
          </a:xfrm>
          <a:prstGeom prst="ellipse">
            <a:avLst/>
          </a:prstGeom>
          <a:solidFill>
            <a:srgbClr val="17233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283903" y="3623767"/>
            <a:ext cx="82296" cy="82296"/>
          </a:xfrm>
          <a:prstGeom prst="ellipse">
            <a:avLst/>
          </a:prstGeom>
          <a:solidFill>
            <a:srgbClr val="17233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461858" y="4062679"/>
            <a:ext cx="82296" cy="82296"/>
          </a:xfrm>
          <a:prstGeom prst="ellipse">
            <a:avLst/>
          </a:prstGeom>
          <a:solidFill>
            <a:srgbClr val="17233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469526" y="4062679"/>
            <a:ext cx="82296" cy="82296"/>
          </a:xfrm>
          <a:prstGeom prst="ellipse">
            <a:avLst/>
          </a:prstGeom>
          <a:solidFill>
            <a:srgbClr val="17233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355787" y="4472330"/>
            <a:ext cx="82296" cy="82296"/>
          </a:xfrm>
          <a:prstGeom prst="ellipse">
            <a:avLst/>
          </a:prstGeom>
          <a:solidFill>
            <a:srgbClr val="17233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575597" y="4472330"/>
            <a:ext cx="82296" cy="82296"/>
          </a:xfrm>
          <a:prstGeom prst="ellipse">
            <a:avLst/>
          </a:prstGeom>
          <a:solidFill>
            <a:srgbClr val="17233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302752" y="4677156"/>
            <a:ext cx="82296" cy="82296"/>
          </a:xfrm>
          <a:prstGeom prst="ellipse">
            <a:avLst/>
          </a:prstGeom>
          <a:solidFill>
            <a:srgbClr val="17233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628632" y="4677156"/>
            <a:ext cx="82296" cy="82296"/>
          </a:xfrm>
          <a:prstGeom prst="ellipse">
            <a:avLst/>
          </a:prstGeom>
          <a:solidFill>
            <a:srgbClr val="17233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780069" y="4618634"/>
            <a:ext cx="82296" cy="82296"/>
          </a:xfrm>
          <a:prstGeom prst="ellipse">
            <a:avLst/>
          </a:prstGeom>
          <a:solidFill>
            <a:srgbClr val="17233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9151315" y="4618634"/>
            <a:ext cx="82296" cy="82296"/>
          </a:xfrm>
          <a:prstGeom prst="ellipse">
            <a:avLst/>
          </a:prstGeom>
          <a:solidFill>
            <a:srgbClr val="17233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727034" y="5145329"/>
            <a:ext cx="82296" cy="82296"/>
          </a:xfrm>
          <a:prstGeom prst="ellipse">
            <a:avLst/>
          </a:prstGeom>
          <a:solidFill>
            <a:srgbClr val="17233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9204350" y="5145329"/>
            <a:ext cx="82296" cy="82296"/>
          </a:xfrm>
          <a:prstGeom prst="ellipse">
            <a:avLst/>
          </a:prstGeom>
          <a:solidFill>
            <a:srgbClr val="17233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700516" y="5672023"/>
            <a:ext cx="82296" cy="82296"/>
          </a:xfrm>
          <a:prstGeom prst="ellipse">
            <a:avLst/>
          </a:prstGeom>
          <a:solidFill>
            <a:srgbClr val="17233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9230868" y="5672023"/>
            <a:ext cx="82296" cy="82296"/>
          </a:xfrm>
          <a:prstGeom prst="ellipse">
            <a:avLst/>
          </a:prstGeom>
          <a:solidFill>
            <a:srgbClr val="17233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594446" y="5847588"/>
            <a:ext cx="82296" cy="82296"/>
          </a:xfrm>
          <a:prstGeom prst="ellipse">
            <a:avLst/>
          </a:prstGeom>
          <a:solidFill>
            <a:srgbClr val="17233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9336938" y="5847588"/>
            <a:ext cx="82296" cy="82296"/>
          </a:xfrm>
          <a:prstGeom prst="ellipse">
            <a:avLst/>
          </a:prstGeom>
          <a:solidFill>
            <a:srgbClr val="17233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492240" y="589788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left  </a:t>
            </a:r>
            <a:pPr algn="ctr" indent="0" marL="0">
              <a:buNone/>
            </a:pPr>
            <a:r>
              <a:rPr lang="en-US" sz="1100" b="1" dirty="0">
                <a:solidFill>
                  <a:srgbClr val="BE1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right  </a:t>
            </a:r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centre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SportPose  ·  3D Stereo Motion Capture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1247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18-point skeleton &amp; connections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0" y="1828800"/>
            <a:ext cx="0" cy="502920"/>
          </a:xfrm>
          <a:prstGeom prst="line">
            <a:avLst/>
          </a:prstGeom>
          <a:noFill/>
          <a:ln w="31750">
            <a:solidFill>
              <a:srgbClr val="64748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448763" y="3977640"/>
            <a:ext cx="588874" cy="0"/>
          </a:xfrm>
          <a:prstGeom prst="line">
            <a:avLst/>
          </a:prstGeom>
          <a:noFill/>
          <a:ln w="31750">
            <a:solidFill>
              <a:srgbClr val="64748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0" y="2331720"/>
            <a:ext cx="-504749" cy="91440"/>
          </a:xfrm>
          <a:prstGeom prst="line">
            <a:avLst/>
          </a:prstGeom>
          <a:noFill/>
          <a:ln w="31750">
            <a:solidFill>
              <a:srgbClr val="2563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38451" y="2423160"/>
            <a:ext cx="-294437" cy="685800"/>
          </a:xfrm>
          <a:prstGeom prst="line">
            <a:avLst/>
          </a:prstGeom>
          <a:noFill/>
          <a:ln w="31750">
            <a:solidFill>
              <a:srgbClr val="2563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944014" y="3108960"/>
            <a:ext cx="-168250" cy="640080"/>
          </a:xfrm>
          <a:prstGeom prst="line">
            <a:avLst/>
          </a:prstGeom>
          <a:noFill/>
          <a:ln w="31750">
            <a:solidFill>
              <a:srgbClr val="2563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775765" y="3749040"/>
            <a:ext cx="-84125" cy="320040"/>
          </a:xfrm>
          <a:prstGeom prst="line">
            <a:avLst/>
          </a:prstGeom>
          <a:noFill/>
          <a:ln w="31750">
            <a:solidFill>
              <a:srgbClr val="2563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38451" y="2423160"/>
            <a:ext cx="210312" cy="1554480"/>
          </a:xfrm>
          <a:prstGeom prst="line">
            <a:avLst/>
          </a:prstGeom>
          <a:noFill/>
          <a:ln w="31750">
            <a:solidFill>
              <a:srgbClr val="2563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448763" y="3977640"/>
            <a:ext cx="-84125" cy="822960"/>
          </a:xfrm>
          <a:prstGeom prst="line">
            <a:avLst/>
          </a:prstGeom>
          <a:noFill/>
          <a:ln w="31750">
            <a:solidFill>
              <a:srgbClr val="2563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64638" y="4800600"/>
            <a:ext cx="-42062" cy="822960"/>
          </a:xfrm>
          <a:prstGeom prst="line">
            <a:avLst/>
          </a:prstGeom>
          <a:noFill/>
          <a:ln w="31750">
            <a:solidFill>
              <a:srgbClr val="2563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322576" y="5623560"/>
            <a:ext cx="-168250" cy="274320"/>
          </a:xfrm>
          <a:prstGeom prst="line">
            <a:avLst/>
          </a:prstGeom>
          <a:noFill/>
          <a:ln w="31750">
            <a:solidFill>
              <a:srgbClr val="2563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0" y="2331720"/>
            <a:ext cx="504749" cy="91440"/>
          </a:xfrm>
          <a:prstGeom prst="line">
            <a:avLst/>
          </a:prstGeom>
          <a:noFill/>
          <a:ln w="31750">
            <a:solidFill>
              <a:srgbClr val="BE1E7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47949" y="2423160"/>
            <a:ext cx="294437" cy="685800"/>
          </a:xfrm>
          <a:prstGeom prst="line">
            <a:avLst/>
          </a:prstGeom>
          <a:noFill/>
          <a:ln w="31750">
            <a:solidFill>
              <a:srgbClr val="BE1E7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542386" y="3108960"/>
            <a:ext cx="168250" cy="640080"/>
          </a:xfrm>
          <a:prstGeom prst="line">
            <a:avLst/>
          </a:prstGeom>
          <a:noFill/>
          <a:ln w="31750">
            <a:solidFill>
              <a:srgbClr val="BE1E7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710635" y="3749040"/>
            <a:ext cx="84125" cy="320040"/>
          </a:xfrm>
          <a:prstGeom prst="line">
            <a:avLst/>
          </a:prstGeom>
          <a:noFill/>
          <a:ln w="31750">
            <a:solidFill>
              <a:srgbClr val="BE1E7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47949" y="2423160"/>
            <a:ext cx="-210312" cy="1554480"/>
          </a:xfrm>
          <a:prstGeom prst="line">
            <a:avLst/>
          </a:prstGeom>
          <a:noFill/>
          <a:ln w="31750">
            <a:solidFill>
              <a:srgbClr val="BE1E7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037637" y="3977640"/>
            <a:ext cx="84125" cy="822960"/>
          </a:xfrm>
          <a:prstGeom prst="line">
            <a:avLst/>
          </a:prstGeom>
          <a:noFill/>
          <a:ln w="31750">
            <a:solidFill>
              <a:srgbClr val="BE1E7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121762" y="4800600"/>
            <a:ext cx="42062" cy="822960"/>
          </a:xfrm>
          <a:prstGeom prst="line">
            <a:avLst/>
          </a:prstGeom>
          <a:noFill/>
          <a:ln w="31750">
            <a:solidFill>
              <a:srgbClr val="BE1E7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163824" y="5623560"/>
            <a:ext cx="168250" cy="274320"/>
          </a:xfrm>
          <a:prstGeom prst="line">
            <a:avLst/>
          </a:prstGeom>
          <a:noFill/>
          <a:ln w="31750">
            <a:solidFill>
              <a:srgbClr val="BE1E7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02052" y="1787652"/>
            <a:ext cx="82296" cy="82296"/>
          </a:xfrm>
          <a:prstGeom prst="ellipse">
            <a:avLst/>
          </a:prstGeom>
          <a:solidFill>
            <a:srgbClr val="17233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807208" y="173736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2702052" y="2290572"/>
            <a:ext cx="82296" cy="82296"/>
          </a:xfrm>
          <a:prstGeom prst="ellipse">
            <a:avLst/>
          </a:prstGeom>
          <a:solidFill>
            <a:srgbClr val="17233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807208" y="224028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2197303" y="2382012"/>
            <a:ext cx="82296" cy="82296"/>
          </a:xfrm>
          <a:prstGeom prst="ellipse">
            <a:avLst/>
          </a:prstGeom>
          <a:solidFill>
            <a:srgbClr val="17233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302459" y="233172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3206801" y="2382012"/>
            <a:ext cx="82296" cy="82296"/>
          </a:xfrm>
          <a:prstGeom prst="ellipse">
            <a:avLst/>
          </a:prstGeom>
          <a:solidFill>
            <a:srgbClr val="17233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11957" y="233172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1902866" y="3067812"/>
            <a:ext cx="82296" cy="82296"/>
          </a:xfrm>
          <a:prstGeom prst="ellipse">
            <a:avLst/>
          </a:prstGeom>
          <a:solidFill>
            <a:srgbClr val="17233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008022" y="301752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3501238" y="3067812"/>
            <a:ext cx="82296" cy="82296"/>
          </a:xfrm>
          <a:prstGeom prst="ellipse">
            <a:avLst/>
          </a:prstGeom>
          <a:solidFill>
            <a:srgbClr val="17233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06394" y="301752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1734617" y="3707892"/>
            <a:ext cx="82296" cy="82296"/>
          </a:xfrm>
          <a:prstGeom prst="ellipse">
            <a:avLst/>
          </a:prstGeom>
          <a:solidFill>
            <a:srgbClr val="17233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839773" y="365760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3669487" y="3707892"/>
            <a:ext cx="82296" cy="82296"/>
          </a:xfrm>
          <a:prstGeom prst="ellipse">
            <a:avLst/>
          </a:prstGeom>
          <a:solidFill>
            <a:srgbClr val="17233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774643" y="365760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1650492" y="4027932"/>
            <a:ext cx="82296" cy="82296"/>
          </a:xfrm>
          <a:prstGeom prst="ellipse">
            <a:avLst/>
          </a:prstGeom>
          <a:solidFill>
            <a:srgbClr val="17233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755648" y="397764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3753612" y="4027932"/>
            <a:ext cx="82296" cy="82296"/>
          </a:xfrm>
          <a:prstGeom prst="ellipse">
            <a:avLst/>
          </a:prstGeom>
          <a:solidFill>
            <a:srgbClr val="17233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858768" y="397764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2407615" y="3936492"/>
            <a:ext cx="82296" cy="82296"/>
          </a:xfrm>
          <a:prstGeom prst="ellipse">
            <a:avLst/>
          </a:prstGeom>
          <a:solidFill>
            <a:srgbClr val="17233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512771" y="388620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2996489" y="3936492"/>
            <a:ext cx="82296" cy="82296"/>
          </a:xfrm>
          <a:prstGeom prst="ellipse">
            <a:avLst/>
          </a:prstGeom>
          <a:solidFill>
            <a:srgbClr val="17233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101645" y="388620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2323490" y="4759452"/>
            <a:ext cx="82296" cy="82296"/>
          </a:xfrm>
          <a:prstGeom prst="ellipse">
            <a:avLst/>
          </a:prstGeom>
          <a:solidFill>
            <a:srgbClr val="17233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428646" y="470916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3080614" y="4759452"/>
            <a:ext cx="82296" cy="82296"/>
          </a:xfrm>
          <a:prstGeom prst="ellipse">
            <a:avLst/>
          </a:prstGeom>
          <a:solidFill>
            <a:srgbClr val="17233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185770" y="470916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2281428" y="5582412"/>
            <a:ext cx="82296" cy="82296"/>
          </a:xfrm>
          <a:prstGeom prst="ellipse">
            <a:avLst/>
          </a:prstGeom>
          <a:solidFill>
            <a:srgbClr val="17233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386584" y="553212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3122676" y="5582412"/>
            <a:ext cx="82296" cy="82296"/>
          </a:xfrm>
          <a:prstGeom prst="ellipse">
            <a:avLst/>
          </a:prstGeom>
          <a:solidFill>
            <a:srgbClr val="17233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227832" y="553212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2113178" y="5856732"/>
            <a:ext cx="82296" cy="82296"/>
          </a:xfrm>
          <a:prstGeom prst="ellipse">
            <a:avLst/>
          </a:prstGeom>
          <a:solidFill>
            <a:srgbClr val="17233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218334" y="580644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3290926" y="5856732"/>
            <a:ext cx="82296" cy="82296"/>
          </a:xfrm>
          <a:prstGeom prst="ellipse">
            <a:avLst/>
          </a:prstGeom>
          <a:solidFill>
            <a:srgbClr val="17233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396082" y="580644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5212080" y="1600200"/>
            <a:ext cx="6537960" cy="4617720"/>
          </a:xfrm>
          <a:prstGeom prst="roundRect">
            <a:avLst>
              <a:gd name="adj" fmla="val 1782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28000"/>
              </a:srgbClr>
            </a:outerShdw>
          </a:effectLst>
        </p:spPr>
      </p:sp>
      <p:sp>
        <p:nvSpPr>
          <p:cNvPr id="59" name="Text 57"/>
          <p:cNvSpPr/>
          <p:nvPr/>
        </p:nvSpPr>
        <p:spPr>
          <a:xfrm>
            <a:off x="5440680" y="1737360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Keypoint index map</a:t>
            </a:r>
            <a:endParaRPr lang="en-US" sz="1400" dirty="0"/>
          </a:p>
        </p:txBody>
      </p:sp>
      <p:sp>
        <p:nvSpPr>
          <p:cNvPr id="60" name="Text 58"/>
          <p:cNvSpPr/>
          <p:nvPr/>
        </p:nvSpPr>
        <p:spPr>
          <a:xfrm>
            <a:off x="5486400" y="2240280"/>
            <a:ext cx="31089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  Nose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 Neck (synthesized)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 L shoulder   3  R shoulder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 L elbow      5  R elbow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  L wrist      7  R wrist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  L index      9  R index</a:t>
            </a:r>
            <a:endParaRPr lang="en-US" sz="1200" dirty="0"/>
          </a:p>
        </p:txBody>
      </p:sp>
      <p:sp>
        <p:nvSpPr>
          <p:cNvPr id="61" name="Text 59"/>
          <p:cNvSpPr/>
          <p:nvPr/>
        </p:nvSpPr>
        <p:spPr>
          <a:xfrm>
            <a:off x="8595360" y="2240280"/>
            <a:ext cx="301752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L hip       11 R hip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L knee      13 R knee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 L ankle     15 R ankle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 L foot      17 R foot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Bones: 18 connections (arms,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legs, spine, shoulder &amp; pelvis girdles)</a:t>
            </a:r>
            <a:endParaRPr lang="en-US" sz="1200" dirty="0"/>
          </a:p>
        </p:txBody>
      </p:sp>
      <p:sp>
        <p:nvSpPr>
          <p:cNvPr id="62" name="Text 60"/>
          <p:cNvSpPr/>
          <p:nvPr/>
        </p:nvSpPr>
        <p:spPr>
          <a:xfrm>
            <a:off x="5486400" y="5623560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Angles computed: knees, hips, elbows, wrists, shoulders, ankles (left &amp; right = 12).</a:t>
            </a:r>
            <a:endParaRPr lang="en-US" sz="1150" dirty="0"/>
          </a:p>
        </p:txBody>
      </p:sp>
      <p:sp>
        <p:nvSpPr>
          <p:cNvPr id="63" name="Text 61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SportPose  ·  3D Stereo Motion Capture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5 · TRIANGULATION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1247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Paired 2D -&gt; metric 3D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5394960" cy="4617720"/>
          </a:xfrm>
          <a:prstGeom prst="roundRect">
            <a:avLst>
              <a:gd name="adj" fmla="val 1782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71600" y="5212080"/>
            <a:ext cx="1783080" cy="-283464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937760" y="5212080"/>
            <a:ext cx="-1783080" cy="-2834640"/>
          </a:xfrm>
          <a:prstGeom prst="line">
            <a:avLst/>
          </a:prstGeom>
          <a:noFill/>
          <a:ln w="25400">
            <a:solidFill>
              <a:srgbClr val="BE1E7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71600" y="5212080"/>
            <a:ext cx="3566160" cy="0"/>
          </a:xfrm>
          <a:prstGeom prst="line">
            <a:avLst/>
          </a:prstGeom>
          <a:noFill/>
          <a:ln w="25400">
            <a:solidFill>
              <a:srgbClr val="0E7C55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1289304" y="5129784"/>
            <a:ext cx="164592" cy="164592"/>
          </a:xfrm>
          <a:prstGeom prst="ellipse">
            <a:avLst/>
          </a:prstGeom>
          <a:solidFill>
            <a:srgbClr val="17233D"/>
          </a:solidFill>
          <a:ln/>
        </p:spPr>
      </p:sp>
      <p:sp>
        <p:nvSpPr>
          <p:cNvPr id="9" name="Text 7"/>
          <p:cNvSpPr/>
          <p:nvPr/>
        </p:nvSpPr>
        <p:spPr>
          <a:xfrm>
            <a:off x="1280160" y="5321808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cam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855464" y="5129784"/>
            <a:ext cx="164592" cy="164592"/>
          </a:xfrm>
          <a:prstGeom prst="ellipse">
            <a:avLst/>
          </a:prstGeom>
          <a:solidFill>
            <a:srgbClr val="17233D"/>
          </a:solidFill>
          <a:ln/>
        </p:spPr>
      </p:sp>
      <p:sp>
        <p:nvSpPr>
          <p:cNvPr id="11" name="Text 9"/>
          <p:cNvSpPr/>
          <p:nvPr/>
        </p:nvSpPr>
        <p:spPr>
          <a:xfrm>
            <a:off x="4846320" y="5321808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cam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054096" y="2276856"/>
            <a:ext cx="201168" cy="20116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3" name="Text 11"/>
          <p:cNvSpPr/>
          <p:nvPr/>
        </p:nvSpPr>
        <p:spPr>
          <a:xfrm>
            <a:off x="2331720" y="196596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(X, Y, Z) mm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103120" y="528523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7C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 R, 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0080" y="58064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rays, one intersection -&gt; depth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35040" y="1600200"/>
            <a:ext cx="5715000" cy="4617720"/>
          </a:xfrm>
          <a:prstGeom prst="roundRect">
            <a:avLst>
              <a:gd name="adj" fmla="val 1782"/>
            </a:avLst>
          </a:prstGeom>
          <a:solidFill>
            <a:srgbClr val="EAF1FB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2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263640" y="173736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(standard, robust)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309360" y="2240280"/>
            <a:ext cx="534924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normalized keypoints -&gt; pixels using each view's stored size.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cv2.undistortPoints - removes distortion + intrinsics -&gt; normalized camera rays.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b="1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Projection matrices: P1 = [ I | 0 ],  P2 = [ R | T ].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cv2.triangulatePoints (linear DLT) -&gt; homogeneous -&gt; divide -&gt; 3D in the LEFT-camera frame, in mm.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joint below 0.5 confidence in EITHER view -&gt; NaN (gap), never a wrong point.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309360" y="5120640"/>
            <a:ext cx="5166360" cy="960120"/>
          </a:xfrm>
          <a:prstGeom prst="roundRect">
            <a:avLst>
              <a:gd name="adj" fmla="val 8571"/>
            </a:avLst>
          </a:prstGeom>
          <a:solidFill>
            <a:srgbClr val="FDEEE9"/>
          </a:solidFill>
          <a:ln w="12700">
            <a:solidFill>
              <a:srgbClr val="C0392B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2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446520" y="5212080"/>
            <a:ext cx="4892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Limits: linear DLT (algebraic error), no per-joint outlier rejection, no bundle adjustment, no epipolar correspondence check.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SportPose  ·  3D Stereo Motion Capture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6 · KINEMATICS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1247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3D joint angles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5577840" cy="4617720"/>
          </a:xfrm>
          <a:prstGeom prst="roundRect">
            <a:avLst>
              <a:gd name="adj" fmla="val 1782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58368" y="173736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Computation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13232" y="2212848"/>
            <a:ext cx="51206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 joint at B with neighbours A and C: form vectors A-B and C-B.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Angle = arccos of their normalized dot product - a true 3D angle.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angles per frame: knees, hips, elbows, wrists, shoulders, ankles (L &amp; R).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missing (NaN) endpoint -&gt; that angle is simply skipped for the frame.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713232" y="4800600"/>
            <a:ext cx="5074920" cy="128016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2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2960" y="489204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theta = arccos( (A-B).(C-B) / |A-B| |C-B| 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539496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3D - no camera-facing heuristics needed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217920" y="1600200"/>
            <a:ext cx="5532120" cy="4617720"/>
          </a:xfrm>
          <a:prstGeom prst="roundRect">
            <a:avLst>
              <a:gd name="adj" fmla="val 1782"/>
            </a:avLst>
          </a:prstGeom>
          <a:solidFill>
            <a:srgbClr val="EAF1FB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2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46520" y="173736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output is robust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92240" y="2240280"/>
            <a:ext cx="512064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250" b="1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Angles are INVARIANT to scale - a wrong square size mis-sizes positions but not angles.</a:t>
            </a:r>
            <a:endParaRPr lang="en-US" sz="12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250" b="1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Angles are INVARIANT to global rotation - camera tilt / leveling doesn't change them.</a:t>
            </a:r>
            <a:endParaRPr lang="en-US" sz="12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many calibration errors hurt the 3D picture more than the numbers we actually report.</a:t>
            </a:r>
            <a:endParaRPr lang="en-US" sz="12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2D path additionally uses a facing-direction normalization + anatomical convention; the 3D path needs none of that.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SportPose  ·  3D Stereo Motion Capture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7 · PERSISTENCE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1247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Storing the results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5577840" cy="4617720"/>
          </a:xfrm>
          <a:prstGeom prst="roundRect">
            <a:avLst>
              <a:gd name="adj" fmla="val 1782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58368" y="173736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process-video request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13232" y="2212848"/>
            <a:ext cx="512064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clip from MinIO to a temp file.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Route: layout=='side_by_side' (or source=='stereo_camera') AND calibration.npz exists -&gt; 3D path; else 2D.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pose + triangulation; render the left-view overlay video.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Re-upload the overlay to MinIO as processed_object_name.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synchronously inside the HTTP request (a scalability limit).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17920" y="1600200"/>
            <a:ext cx="5532120" cy="4617720"/>
          </a:xfrm>
          <a:prstGeom prst="roundRect">
            <a:avLst>
              <a:gd name="adj" fmla="val 1782"/>
            </a:avLst>
          </a:prstGeom>
          <a:solidFill>
            <a:srgbClr val="EAF1FB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2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46520" y="173736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pose_analysis document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92240" y="2212848"/>
            <a:ext cx="512064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video_id, user_id, status, created_at.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result.frames - per-frame 2D keypoints + 2D angles (drives the graph).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result.frames_3d - triangulated 3D points + true 3D angles (drives the 3D viewer).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result.mode = 'stereo_3d', units = 'mm', fps, total_frames.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document per video; upsert on re-processing.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SportPose  ·  3D Stereo Motion Capture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8 · VISUALIZATION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1247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 &amp; time synchronization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5669280" cy="4526280"/>
          </a:xfrm>
          <a:prstGeom prst="roundRect">
            <a:avLst>
              <a:gd name="adj" fmla="val 1818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810512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page - 3 synced panels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777240" y="2286000"/>
            <a:ext cx="2514600" cy="1600200"/>
          </a:xfrm>
          <a:prstGeom prst="rect">
            <a:avLst/>
          </a:prstGeom>
          <a:solidFill>
            <a:srgbClr val="EAF1FB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286000"/>
            <a:ext cx="251460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Overlay video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(2D skeleton)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429000" y="2286000"/>
            <a:ext cx="2468880" cy="1600200"/>
          </a:xfrm>
          <a:prstGeom prst="rect">
            <a:avLst/>
          </a:prstGeom>
          <a:solidFill>
            <a:srgbClr val="FBEAF3"/>
          </a:solidFill>
          <a:ln w="19050">
            <a:solidFill>
              <a:srgbClr val="BE1E7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29000" y="2286000"/>
            <a:ext cx="246888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Rotatable 3D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skeleton viewer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77240" y="4023360"/>
            <a:ext cx="5120640" cy="1600200"/>
          </a:xfrm>
          <a:prstGeom prst="rect">
            <a:avLst/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4023360"/>
            <a:ext cx="512064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Joint-angle graph (ECharts) - angle vs time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309360" y="1691640"/>
            <a:ext cx="5440680" cy="4526280"/>
          </a:xfrm>
          <a:prstGeom prst="roundRect">
            <a:avLst>
              <a:gd name="adj" fmla="val 1818"/>
            </a:avLst>
          </a:prstGeom>
          <a:solidFill>
            <a:srgbClr val="EAF1FB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2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537960" y="18288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Event-driven time sync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583680" y="2331720"/>
            <a:ext cx="50292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each animation frame the video dispatches a 'sync-time' window event with currentTime.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graph moves a vertical marker line to that time (throttled ~20 fps).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3D viewer jumps to frame = floor(time x fps).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'analysis-complete' event invalidates the TanStack Query cache to refetch results.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583680" y="5074920"/>
            <a:ext cx="5029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Keywords: SPA - custom DOM events - requestAnimationFrame - throttling - query invalidation - presigned playback URL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SportPose  ·  3D Stereo Motion Capture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1247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3D skeleton viewer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5577840" cy="4617720"/>
          </a:xfrm>
          <a:prstGeom prst="roundRect">
            <a:avLst>
              <a:gd name="adj" fmla="val 1782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58368" y="173736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Rendering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13232" y="2212848"/>
            <a:ext cx="512064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HTML Canvas - a hand-written 3D-&gt;2D projection (no Three.js).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yaw / pitch / zoom via mouse drag + wheel.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Auto-centers and scales to the reconstructed point cloud.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Draws bones (left/right/centre coloured), joints, and a floor grid.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HUD lists the current frame's 3D joint angles.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17920" y="1600200"/>
            <a:ext cx="5532120" cy="4617720"/>
          </a:xfrm>
          <a:prstGeom prst="roundRect">
            <a:avLst>
              <a:gd name="adj" fmla="val 1782"/>
            </a:avLst>
          </a:prstGeom>
          <a:solidFill>
            <a:srgbClr val="EAF1FB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2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9006840" y="2139696"/>
            <a:ext cx="0" cy="402336"/>
          </a:xfrm>
          <a:prstGeom prst="line">
            <a:avLst/>
          </a:prstGeom>
          <a:noFill/>
          <a:ln w="31750">
            <a:solidFill>
              <a:srgbClr val="64748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782812" y="3858768"/>
            <a:ext cx="448056" cy="0"/>
          </a:xfrm>
          <a:prstGeom prst="line">
            <a:avLst/>
          </a:prstGeom>
          <a:noFill/>
          <a:ln w="31750">
            <a:solidFill>
              <a:srgbClr val="64748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006840" y="2542032"/>
            <a:ext cx="-384048" cy="73152"/>
          </a:xfrm>
          <a:prstGeom prst="line">
            <a:avLst/>
          </a:prstGeom>
          <a:noFill/>
          <a:ln w="31750">
            <a:solidFill>
              <a:srgbClr val="2563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622792" y="2615184"/>
            <a:ext cx="-224028" cy="548640"/>
          </a:xfrm>
          <a:prstGeom prst="line">
            <a:avLst/>
          </a:prstGeom>
          <a:noFill/>
          <a:ln w="31750">
            <a:solidFill>
              <a:srgbClr val="2563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398764" y="3163824"/>
            <a:ext cx="-128016" cy="512064"/>
          </a:xfrm>
          <a:prstGeom prst="line">
            <a:avLst/>
          </a:prstGeom>
          <a:noFill/>
          <a:ln w="31750">
            <a:solidFill>
              <a:srgbClr val="2563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70748" y="3675888"/>
            <a:ext cx="-64008" cy="256032"/>
          </a:xfrm>
          <a:prstGeom prst="line">
            <a:avLst/>
          </a:prstGeom>
          <a:noFill/>
          <a:ln w="31750">
            <a:solidFill>
              <a:srgbClr val="2563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622792" y="2615184"/>
            <a:ext cx="160020" cy="1243584"/>
          </a:xfrm>
          <a:prstGeom prst="line">
            <a:avLst/>
          </a:prstGeom>
          <a:noFill/>
          <a:ln w="31750">
            <a:solidFill>
              <a:srgbClr val="2563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782812" y="3858768"/>
            <a:ext cx="-64008" cy="658368"/>
          </a:xfrm>
          <a:prstGeom prst="line">
            <a:avLst/>
          </a:prstGeom>
          <a:noFill/>
          <a:ln w="31750">
            <a:solidFill>
              <a:srgbClr val="2563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718804" y="4517136"/>
            <a:ext cx="-32004" cy="658368"/>
          </a:xfrm>
          <a:prstGeom prst="line">
            <a:avLst/>
          </a:prstGeom>
          <a:noFill/>
          <a:ln w="31750">
            <a:solidFill>
              <a:srgbClr val="2563E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686800" y="5175504"/>
            <a:ext cx="-128016" cy="219456"/>
          </a:xfrm>
          <a:prstGeom prst="line">
            <a:avLst/>
          </a:prstGeom>
          <a:noFill/>
          <a:ln w="31750">
            <a:solidFill>
              <a:srgbClr val="2563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06840" y="2542032"/>
            <a:ext cx="384048" cy="73152"/>
          </a:xfrm>
          <a:prstGeom prst="line">
            <a:avLst/>
          </a:prstGeom>
          <a:noFill/>
          <a:ln w="31750">
            <a:solidFill>
              <a:srgbClr val="BE1E7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390888" y="2615184"/>
            <a:ext cx="224028" cy="548640"/>
          </a:xfrm>
          <a:prstGeom prst="line">
            <a:avLst/>
          </a:prstGeom>
          <a:noFill/>
          <a:ln w="31750">
            <a:solidFill>
              <a:srgbClr val="BE1E7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614916" y="3163824"/>
            <a:ext cx="128016" cy="512064"/>
          </a:xfrm>
          <a:prstGeom prst="line">
            <a:avLst/>
          </a:prstGeom>
          <a:noFill/>
          <a:ln w="31750">
            <a:solidFill>
              <a:srgbClr val="BE1E7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742932" y="3675888"/>
            <a:ext cx="64008" cy="256032"/>
          </a:xfrm>
          <a:prstGeom prst="line">
            <a:avLst/>
          </a:prstGeom>
          <a:noFill/>
          <a:ln w="31750">
            <a:solidFill>
              <a:srgbClr val="BE1E7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390888" y="2615184"/>
            <a:ext cx="-160020" cy="1243584"/>
          </a:xfrm>
          <a:prstGeom prst="line">
            <a:avLst/>
          </a:prstGeom>
          <a:noFill/>
          <a:ln w="31750">
            <a:solidFill>
              <a:srgbClr val="BE1E7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230868" y="3858768"/>
            <a:ext cx="64008" cy="658368"/>
          </a:xfrm>
          <a:prstGeom prst="line">
            <a:avLst/>
          </a:prstGeom>
          <a:noFill/>
          <a:ln w="31750">
            <a:solidFill>
              <a:srgbClr val="BE1E7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294876" y="4517136"/>
            <a:ext cx="32004" cy="658368"/>
          </a:xfrm>
          <a:prstGeom prst="line">
            <a:avLst/>
          </a:prstGeom>
          <a:noFill/>
          <a:ln w="31750">
            <a:solidFill>
              <a:srgbClr val="BE1E7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326880" y="5175504"/>
            <a:ext cx="128016" cy="219456"/>
          </a:xfrm>
          <a:prstGeom prst="line">
            <a:avLst/>
          </a:prstGeom>
          <a:noFill/>
          <a:ln w="31750">
            <a:solidFill>
              <a:srgbClr val="BE1E7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965692" y="2098548"/>
            <a:ext cx="82296" cy="82296"/>
          </a:xfrm>
          <a:prstGeom prst="ellipse">
            <a:avLst/>
          </a:prstGeom>
          <a:solidFill>
            <a:srgbClr val="17233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965692" y="2500884"/>
            <a:ext cx="82296" cy="82296"/>
          </a:xfrm>
          <a:prstGeom prst="ellipse">
            <a:avLst/>
          </a:prstGeom>
          <a:solidFill>
            <a:srgbClr val="17233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581644" y="2574036"/>
            <a:ext cx="82296" cy="82296"/>
          </a:xfrm>
          <a:prstGeom prst="ellipse">
            <a:avLst/>
          </a:prstGeom>
          <a:solidFill>
            <a:srgbClr val="17233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349740" y="2574036"/>
            <a:ext cx="82296" cy="82296"/>
          </a:xfrm>
          <a:prstGeom prst="ellipse">
            <a:avLst/>
          </a:prstGeom>
          <a:solidFill>
            <a:srgbClr val="17233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357616" y="3122676"/>
            <a:ext cx="82296" cy="82296"/>
          </a:xfrm>
          <a:prstGeom prst="ellipse">
            <a:avLst/>
          </a:prstGeom>
          <a:solidFill>
            <a:srgbClr val="17233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573768" y="3122676"/>
            <a:ext cx="82296" cy="82296"/>
          </a:xfrm>
          <a:prstGeom prst="ellipse">
            <a:avLst/>
          </a:prstGeom>
          <a:solidFill>
            <a:srgbClr val="17233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229600" y="3634740"/>
            <a:ext cx="82296" cy="82296"/>
          </a:xfrm>
          <a:prstGeom prst="ellipse">
            <a:avLst/>
          </a:prstGeom>
          <a:solidFill>
            <a:srgbClr val="17233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701784" y="3634740"/>
            <a:ext cx="82296" cy="82296"/>
          </a:xfrm>
          <a:prstGeom prst="ellipse">
            <a:avLst/>
          </a:prstGeom>
          <a:solidFill>
            <a:srgbClr val="17233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165592" y="3890772"/>
            <a:ext cx="82296" cy="82296"/>
          </a:xfrm>
          <a:prstGeom prst="ellipse">
            <a:avLst/>
          </a:prstGeom>
          <a:solidFill>
            <a:srgbClr val="17233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765792" y="3890772"/>
            <a:ext cx="82296" cy="82296"/>
          </a:xfrm>
          <a:prstGeom prst="ellipse">
            <a:avLst/>
          </a:prstGeom>
          <a:solidFill>
            <a:srgbClr val="17233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741664" y="3817620"/>
            <a:ext cx="82296" cy="82296"/>
          </a:xfrm>
          <a:prstGeom prst="ellipse">
            <a:avLst/>
          </a:prstGeom>
          <a:solidFill>
            <a:srgbClr val="17233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189720" y="3817620"/>
            <a:ext cx="82296" cy="82296"/>
          </a:xfrm>
          <a:prstGeom prst="ellipse">
            <a:avLst/>
          </a:prstGeom>
          <a:solidFill>
            <a:srgbClr val="17233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677656" y="4475988"/>
            <a:ext cx="82296" cy="82296"/>
          </a:xfrm>
          <a:prstGeom prst="ellipse">
            <a:avLst/>
          </a:prstGeom>
          <a:solidFill>
            <a:srgbClr val="17233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253728" y="4475988"/>
            <a:ext cx="82296" cy="82296"/>
          </a:xfrm>
          <a:prstGeom prst="ellipse">
            <a:avLst/>
          </a:prstGeom>
          <a:solidFill>
            <a:srgbClr val="17233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645652" y="5134356"/>
            <a:ext cx="82296" cy="82296"/>
          </a:xfrm>
          <a:prstGeom prst="ellipse">
            <a:avLst/>
          </a:prstGeom>
          <a:solidFill>
            <a:srgbClr val="17233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285732" y="5134356"/>
            <a:ext cx="82296" cy="82296"/>
          </a:xfrm>
          <a:prstGeom prst="ellipse">
            <a:avLst/>
          </a:prstGeom>
          <a:solidFill>
            <a:srgbClr val="17233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517636" y="5353812"/>
            <a:ext cx="82296" cy="82296"/>
          </a:xfrm>
          <a:prstGeom prst="ellipse">
            <a:avLst/>
          </a:prstGeom>
          <a:solidFill>
            <a:srgbClr val="17233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9413748" y="5353812"/>
            <a:ext cx="82296" cy="82296"/>
          </a:xfrm>
          <a:prstGeom prst="ellipse">
            <a:avLst/>
          </a:prstGeom>
          <a:solidFill>
            <a:srgbClr val="17233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446520" y="5623560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frames_3d for the selected video; rotates with R_level so the athlete stands upright.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SportPose  ·  3D Stereo Motion Capture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1247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End-to-end data flow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2377440"/>
            <a:ext cx="1170432" cy="9144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2377440"/>
            <a:ext cx="111556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02920" y="2377440"/>
            <a:ext cx="1170432" cy="914400"/>
          </a:xfrm>
          <a:prstGeom prst="roundRect">
            <a:avLst>
              <a:gd name="adj" fmla="val 6000"/>
            </a:avLst>
          </a:prstGeom>
          <a:ln w="19050">
            <a:solidFill>
              <a:srgbClr val="2563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73352" y="2834640"/>
            <a:ext cx="109728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1783080" y="2377440"/>
            <a:ext cx="1170432" cy="9144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10512" y="2377440"/>
            <a:ext cx="111556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Side-by-side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MP4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783080" y="2377440"/>
            <a:ext cx="1170432" cy="914400"/>
          </a:xfrm>
          <a:prstGeom prst="roundRect">
            <a:avLst>
              <a:gd name="adj" fmla="val 6000"/>
            </a:avLst>
          </a:prstGeom>
          <a:ln w="19050">
            <a:solidFill>
              <a:srgbClr val="2563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953512" y="2834640"/>
            <a:ext cx="109728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063240" y="2377440"/>
            <a:ext cx="1170432" cy="9144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90672" y="2377440"/>
            <a:ext cx="111556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MinIO +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063240" y="2377440"/>
            <a:ext cx="1170432" cy="914400"/>
          </a:xfrm>
          <a:prstGeom prst="roundRect">
            <a:avLst>
              <a:gd name="adj" fmla="val 6000"/>
            </a:avLst>
          </a:prstGeom>
          <a:ln w="19050">
            <a:solidFill>
              <a:srgbClr val="B4530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233672" y="2834640"/>
            <a:ext cx="109728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4343400" y="2377440"/>
            <a:ext cx="1170432" cy="9144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70832" y="2377440"/>
            <a:ext cx="111556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L / R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343400" y="2377440"/>
            <a:ext cx="1170432" cy="914400"/>
          </a:xfrm>
          <a:prstGeom prst="roundRect">
            <a:avLst>
              <a:gd name="adj" fmla="val 6000"/>
            </a:avLst>
          </a:prstGeom>
          <a:ln w="19050">
            <a:solidFill>
              <a:srgbClr val="0E749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513832" y="2834640"/>
            <a:ext cx="109728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5623560" y="2377440"/>
            <a:ext cx="1170432" cy="9144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50992" y="2377440"/>
            <a:ext cx="111556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MediaPipe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 x 2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623560" y="2377440"/>
            <a:ext cx="1170432" cy="914400"/>
          </a:xfrm>
          <a:prstGeom prst="roundRect">
            <a:avLst>
              <a:gd name="adj" fmla="val 6000"/>
            </a:avLst>
          </a:prstGeom>
          <a:ln w="19050">
            <a:solidFill>
              <a:srgbClr val="0E749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793992" y="2834640"/>
            <a:ext cx="109728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6903720" y="2377440"/>
            <a:ext cx="1170432" cy="9144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31152" y="2377440"/>
            <a:ext cx="111556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Triangulate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3D mm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903720" y="2377440"/>
            <a:ext cx="1170432" cy="914400"/>
          </a:xfrm>
          <a:prstGeom prst="roundRect">
            <a:avLst>
              <a:gd name="adj" fmla="val 6000"/>
            </a:avLst>
          </a:prstGeom>
          <a:ln w="19050">
            <a:solidFill>
              <a:srgbClr val="0E749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074152" y="2834640"/>
            <a:ext cx="109728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8183880" y="2377440"/>
            <a:ext cx="1170432" cy="9144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11312" y="2377440"/>
            <a:ext cx="111556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Angles +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R_level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8183880" y="2377440"/>
            <a:ext cx="1170432" cy="914400"/>
          </a:xfrm>
          <a:prstGeom prst="roundRect">
            <a:avLst>
              <a:gd name="adj" fmla="val 6000"/>
            </a:avLst>
          </a:prstGeom>
          <a:ln w="19050">
            <a:solidFill>
              <a:srgbClr val="0E7C5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354312" y="2834640"/>
            <a:ext cx="109728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9464040" y="2377440"/>
            <a:ext cx="1170432" cy="9144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491472" y="2377440"/>
            <a:ext cx="111556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pose_analysis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9464040" y="2377440"/>
            <a:ext cx="1170432" cy="914400"/>
          </a:xfrm>
          <a:prstGeom prst="roundRect">
            <a:avLst>
              <a:gd name="adj" fmla="val 6000"/>
            </a:avLst>
          </a:prstGeom>
          <a:ln w="19050">
            <a:solidFill>
              <a:srgbClr val="B4530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634472" y="2834640"/>
            <a:ext cx="109728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10744200" y="2377440"/>
            <a:ext cx="1170432" cy="9144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0771632" y="2377440"/>
            <a:ext cx="111556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Synced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UI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10744200" y="2377440"/>
            <a:ext cx="1170432" cy="914400"/>
          </a:xfrm>
          <a:prstGeom prst="roundRect">
            <a:avLst>
              <a:gd name="adj" fmla="val 6000"/>
            </a:avLst>
          </a:prstGeom>
          <a:ln w="19050">
            <a:solidFill>
              <a:srgbClr val="17233D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02920" y="3931920"/>
            <a:ext cx="5486400" cy="2194560"/>
          </a:xfrm>
          <a:prstGeom prst="roundRect">
            <a:avLst>
              <a:gd name="adj" fmla="val 3750"/>
            </a:avLst>
          </a:prstGeom>
          <a:solidFill>
            <a:srgbClr val="EAF1FB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28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731520" y="4041648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Offline, once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777240" y="4434840"/>
            <a:ext cx="50292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Stereo calibration -&gt; calibration.npz (K, D, R, T).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Floor leveling -&gt; R_level.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Reused by every subsequent recording.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6263640" y="3931920"/>
            <a:ext cx="5486400" cy="2194560"/>
          </a:xfrm>
          <a:prstGeom prst="roundRect">
            <a:avLst>
              <a:gd name="adj" fmla="val 375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28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6492240" y="4041648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clip, on demand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6537960" y="4434840"/>
            <a:ext cx="50292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Triggered by the 'Extract Kinematics' button.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from split -&gt; 3D -&gt; store runs server-side.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cached; UI refetches on completion.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SportPose  ·  3D Stereo Motion Capture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CROSS-CUTTING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1247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Authentication &amp; security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737360"/>
            <a:ext cx="3611880" cy="4206240"/>
          </a:xfrm>
          <a:prstGeom prst="roundRect">
            <a:avLst>
              <a:gd name="adj" fmla="val 2278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58368" y="1938528"/>
            <a:ext cx="402336" cy="40233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93852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207008" y="1920240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13232" y="2514600"/>
            <a:ext cx="320040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verifies bcrypt password hash.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 a signed JWT (HS256).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in an HttpOnly cookie - not readable by JS (XSS-safer).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/me validates the cookie on load.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51960" y="1737360"/>
            <a:ext cx="3611880" cy="4206240"/>
          </a:xfrm>
          <a:prstGeom prst="roundRect">
            <a:avLst>
              <a:gd name="adj" fmla="val 2278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453128" y="1938528"/>
            <a:ext cx="402336" cy="402336"/>
          </a:xfrm>
          <a:prstGeom prst="ellipse">
            <a:avLst/>
          </a:prstGeom>
          <a:solidFill>
            <a:srgbClr val="0E7C55"/>
          </a:solidFill>
          <a:ln w="12700">
            <a:solidFill>
              <a:srgbClr val="0E7C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53128" y="193852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01768" y="1920240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Authorization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07992" y="2514600"/>
            <a:ext cx="320040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claim in the token (admin / user).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dependencies: get_current_user, require_admin.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see only their own videos; admin can access all.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046720" y="1737360"/>
            <a:ext cx="3611880" cy="4206240"/>
          </a:xfrm>
          <a:prstGeom prst="roundRect">
            <a:avLst>
              <a:gd name="adj" fmla="val 2278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2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47888" y="1938528"/>
            <a:ext cx="402336" cy="402336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47888" y="193852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796528" y="1920240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access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302752" y="2514600"/>
            <a:ext cx="320040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MinIO never exposed to the browser.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Short-lived (1-hour) presigned URLs for playback.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 locked to the known frontend origins.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Ownership checked on every video route.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SportPose  ·  3D Stereo Motion Capture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723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24160" y="-822960"/>
            <a:ext cx="2926080" cy="2926080"/>
          </a:xfrm>
          <a:prstGeom prst="ellipse">
            <a:avLst/>
          </a:prstGeom>
          <a:solidFill>
            <a:srgbClr val="1F2F52"/>
          </a:solidFill>
          <a:ln w="12700">
            <a:solidFill>
              <a:srgbClr val="1F2F5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4937760"/>
            <a:ext cx="2743200" cy="2743200"/>
          </a:xfrm>
          <a:prstGeom prst="ellipse">
            <a:avLst/>
          </a:prstGeom>
          <a:solidFill>
            <a:srgbClr val="1F2F52"/>
          </a:solidFill>
          <a:ln w="12700">
            <a:solidFill>
              <a:srgbClr val="1F2F5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24688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5B7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2834640"/>
            <a:ext cx="10424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Engineering Review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41248" y="379476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EC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limitations, hard questions, and the roadmap</a:t>
            </a:r>
            <a:endParaRPr lang="en-US" sz="15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1247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Known limitations (we volunteer these)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5532120" cy="1024128"/>
          </a:xfrm>
          <a:prstGeom prst="roundRect">
            <a:avLst>
              <a:gd name="adj" fmla="val 8036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755648"/>
            <a:ext cx="5212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Synchronization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2057400"/>
            <a:ext cx="5212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Software-level sequential reads; no genlock. Recording sync looser than calibration.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263640" y="1645920"/>
            <a:ext cx="5532120" cy="1024128"/>
          </a:xfrm>
          <a:prstGeom prst="roundRect">
            <a:avLst>
              <a:gd name="adj" fmla="val 8036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2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46520" y="1755648"/>
            <a:ext cx="5212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Correspondence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46520" y="2057400"/>
            <a:ext cx="5212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epipolar check before triangulation - a MediaPipe L/R label flip would mis-pair joints.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788920"/>
            <a:ext cx="5532120" cy="1024128"/>
          </a:xfrm>
          <a:prstGeom prst="roundRect">
            <a:avLst>
              <a:gd name="adj" fmla="val 8036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2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0080" y="2898648"/>
            <a:ext cx="5212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Triangulation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3200400"/>
            <a:ext cx="5212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DLT, no per-joint outlier rejection, no bundle adjustment.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63640" y="2788920"/>
            <a:ext cx="5532120" cy="1024128"/>
          </a:xfrm>
          <a:prstGeom prst="roundRect">
            <a:avLst>
              <a:gd name="adj" fmla="val 8036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2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46520" y="2898648"/>
            <a:ext cx="5212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filtering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46520" y="3200400"/>
            <a:ext cx="5212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path runs raw (healing off) - no Kalman / One-Euro smoothing.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931920"/>
            <a:ext cx="5532120" cy="1024128"/>
          </a:xfrm>
          <a:prstGeom prst="roundRect">
            <a:avLst>
              <a:gd name="adj" fmla="val 8036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2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0080" y="4041648"/>
            <a:ext cx="5212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080" y="4343400"/>
            <a:ext cx="5212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~4.2 px RMS now; fit-set evaluation; median x 1.5 outlier rule is heuristic.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63640" y="3931920"/>
            <a:ext cx="5532120" cy="1024128"/>
          </a:xfrm>
          <a:prstGeom prst="roundRect">
            <a:avLst>
              <a:gd name="adj" fmla="val 8036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2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446520" y="4041648"/>
            <a:ext cx="5212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rate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46520" y="4343400"/>
            <a:ext cx="5212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fps hardcoded to 30; nominal fps via frame duplication.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5074920"/>
            <a:ext cx="5532120" cy="1024128"/>
          </a:xfrm>
          <a:prstGeom prst="roundRect">
            <a:avLst>
              <a:gd name="adj" fmla="val 8036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2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40080" y="5184648"/>
            <a:ext cx="5212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40080" y="5486400"/>
            <a:ext cx="5212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'presence', not 'visibility'; no cross-view occlusion fallback.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263640" y="5074920"/>
            <a:ext cx="5532120" cy="1024128"/>
          </a:xfrm>
          <a:prstGeom prst="roundRect">
            <a:avLst>
              <a:gd name="adj" fmla="val 8036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2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446520" y="5184648"/>
            <a:ext cx="5212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446520" y="5486400"/>
            <a:ext cx="5212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person; synchronous processing; accuracy not yet quantified.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SportPose  ·  3D Stereo Motion Capture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ANTICIPATED QUESTIONS 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1247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questions he WILL ask (1/2)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11292840" cy="1078992"/>
          </a:xfrm>
          <a:prstGeom prst="roundRect">
            <a:avLst>
              <a:gd name="adj" fmla="val 7627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58368" y="1709928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</a:t>
            </a:r>
            <a:pPr indent="0" marL="0">
              <a:buNone/>
            </a:pPr>
            <a:r>
              <a:rPr lang="en-US" sz="1300" b="1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are the cameras synchronized? Prove it.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58368" y="2057400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C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</a:t>
            </a:r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hardware-synced - sequential reads, few ms-tens of ms, variable. Error ~ speed x dt, worst on fast limbs. Fix: genlock or timestamp + interpolate.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57200" y="2770632"/>
            <a:ext cx="11292840" cy="1078992"/>
          </a:xfrm>
          <a:prstGeom prst="roundRect">
            <a:avLst>
              <a:gd name="adj" fmla="val 7627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2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8368" y="28803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</a:t>
            </a:r>
            <a:pPr indent="0" marL="0">
              <a:buNone/>
            </a:pPr>
            <a:r>
              <a:rPr lang="en-US" sz="1300" b="1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you know left-joint-j = right-joint-j?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58368" y="3227832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C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</a:t>
            </a:r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pair by index and trust MediaPipe labeling. No epipolar check yet - a facing-away label flip would mis-pair. Fix: epipolar / essential-matrix gating.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" y="3941064"/>
            <a:ext cx="11292840" cy="1078992"/>
          </a:xfrm>
          <a:prstGeom prst="roundRect">
            <a:avLst>
              <a:gd name="adj" fmla="val 7627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2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58368" y="4050792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</a:t>
            </a:r>
            <a:pPr indent="0" marL="0">
              <a:buNone/>
            </a:pPr>
            <a:r>
              <a:rPr lang="en-US" sz="1300" b="1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triangulation, and what does it optimize?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58368" y="4398264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C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</a:t>
            </a:r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DLT (SVD), minimizes algebraic error, no outlier rejection. Improve with optimal triangulation, RANSAC gating, bundle adjustment.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5111496"/>
            <a:ext cx="11292840" cy="1078992"/>
          </a:xfrm>
          <a:prstGeom prst="roundRect">
            <a:avLst>
              <a:gd name="adj" fmla="val 7627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2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58368" y="5221224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</a:t>
            </a:r>
            <a:pPr indent="0" marL="0">
              <a:buNone/>
            </a:pPr>
            <a:r>
              <a:rPr lang="en-US" sz="1300" b="1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your confidence signal? Occlusion?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58368" y="5568696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C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</a:t>
            </a:r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MediaPipe 'presence' &gt; 0.5 per view; weak joint -&gt; NaN. 'visibility' may suit occlusion better; no cross-view fallback.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SportPose  ·  3D Stereo Motion Capture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ANTICIPATED QUESTIONS II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1247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questions he WILL ask (2/2)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11292840" cy="1078992"/>
          </a:xfrm>
          <a:prstGeom prst="roundRect">
            <a:avLst>
              <a:gd name="adj" fmla="val 7627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58368" y="1709928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</a:t>
            </a:r>
            <a:pPr indent="0" marL="0">
              <a:buNone/>
            </a:pPr>
            <a:r>
              <a:rPr lang="en-US" sz="1300" b="1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MediaPipe already gives z - why triangulate?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58368" y="2057400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C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</a:t>
            </a:r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z is monocular, relative, hip-anchored - not metric. Stereo gives TRUE mm depth from real geometry.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57200" y="2770632"/>
            <a:ext cx="11292840" cy="1078992"/>
          </a:xfrm>
          <a:prstGeom prst="roundRect">
            <a:avLst>
              <a:gd name="adj" fmla="val 7627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2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8368" y="28803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</a:t>
            </a:r>
            <a:pPr indent="0" marL="0">
              <a:buNone/>
            </a:pPr>
            <a:r>
              <a:rPr lang="en-US" sz="1300" b="1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and scale - what if scale is wrong?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58368" y="3227832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C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</a:t>
            </a:r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in left-cam frame, mm, scale from square size. But our OUTPUT is angles - invariant to scale and global rotation.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" y="3941064"/>
            <a:ext cx="11292840" cy="1078992"/>
          </a:xfrm>
          <a:prstGeom prst="roundRect">
            <a:avLst>
              <a:gd name="adj" fmla="val 7627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2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58368" y="4050792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</a:t>
            </a:r>
            <a:pPr indent="0" marL="0">
              <a:buNone/>
            </a:pPr>
            <a:r>
              <a:rPr lang="en-US" sz="1300" b="1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and scale to many users?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58368" y="4398264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C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</a:t>
            </a:r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process-video is synchronous in the request. Production needs an async job queue + GPU; frame duplication makes fps nominal.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5111496"/>
            <a:ext cx="11292840" cy="1078992"/>
          </a:xfrm>
          <a:prstGeom prst="roundRect">
            <a:avLst>
              <a:gd name="adj" fmla="val 7627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2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58368" y="5221224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</a:t>
            </a:r>
            <a:pPr indent="0" marL="0">
              <a:buNone/>
            </a:pPr>
            <a:r>
              <a:rPr lang="en-US" sz="1300" b="1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your accuracy, in degrees?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58368" y="5568696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C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</a:t>
            </a:r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yet quantified. Plan: DSLR side-on 2D reference + goniometer on static poses -&gt; report mean absolute error.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SportPose  ·  3D Stereo Motion Capture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1247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work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3611880" cy="4389120"/>
          </a:xfrm>
          <a:prstGeom prst="roundRect">
            <a:avLst>
              <a:gd name="adj" fmla="val 2278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58368" y="1892808"/>
            <a:ext cx="402336" cy="40233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89280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207008" y="1874520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13232" y="2468880"/>
            <a:ext cx="32004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genlock / trigger sync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Epipolar correspondence gating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triangulation + RANSAC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 adjustment (n-camera)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51960" y="1691640"/>
            <a:ext cx="3611880" cy="4389120"/>
          </a:xfrm>
          <a:prstGeom prst="roundRect">
            <a:avLst>
              <a:gd name="adj" fmla="val 2278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453128" y="1892808"/>
            <a:ext cx="402336" cy="402336"/>
          </a:xfrm>
          <a:prstGeom prst="ellipse">
            <a:avLst/>
          </a:prstGeom>
          <a:solidFill>
            <a:srgbClr val="0E7C55"/>
          </a:solidFill>
          <a:ln w="12700">
            <a:solidFill>
              <a:srgbClr val="0E7C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53128" y="189280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01768" y="1874520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Robustness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07992" y="2468880"/>
            <a:ext cx="32004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Kalman / One-Euro temporal filter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Cross-view occlusion recovery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true fps (remove 30 hardcode)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Larger calibration target + held-out RMS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046720" y="1691640"/>
            <a:ext cx="3611880" cy="4389120"/>
          </a:xfrm>
          <a:prstGeom prst="roundRect">
            <a:avLst>
              <a:gd name="adj" fmla="val 2278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2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47888" y="1892808"/>
            <a:ext cx="402336" cy="402336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47888" y="189280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796528" y="1874520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302752" y="2468880"/>
            <a:ext cx="32004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job queue + progress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inference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Multi-person + view association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Quantified accuracy report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SportPose  ·  3D Stereo Motion Capture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PLAN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1247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Proving accuracy (what we'll measure)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737360"/>
            <a:ext cx="3611880" cy="3291840"/>
          </a:xfrm>
          <a:prstGeom prst="roundRect">
            <a:avLst>
              <a:gd name="adj" fmla="val 250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8745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Reference: DSLR 2D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13232" y="2331720"/>
            <a:ext cx="32004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Nikon D3400 on tripod, side-on.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Perpendicular to the plane of motion.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planar joint-angle reference.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at 30 fps to match pipeline.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251960" y="1737360"/>
            <a:ext cx="3611880" cy="3291840"/>
          </a:xfrm>
          <a:prstGeom prst="roundRect">
            <a:avLst>
              <a:gd name="adj" fmla="val 250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2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480560" y="18745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C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Reference: goniometer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07992" y="2331720"/>
            <a:ext cx="32004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Physically measure static joint angles.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to the system's 3D angle for the same pose.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Simple, cheap ground truth.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046720" y="1737360"/>
            <a:ext cx="3611880" cy="3291840"/>
          </a:xfrm>
          <a:prstGeom prst="roundRect">
            <a:avLst>
              <a:gd name="adj" fmla="val 250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2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275320" y="18745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302752" y="2331720"/>
            <a:ext cx="32004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absolute error (degrees).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joint + overall.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across poses and speeds.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improvement vs baseline.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5212080"/>
            <a:ext cx="11292840" cy="960120"/>
          </a:xfrm>
          <a:prstGeom prst="roundRect">
            <a:avLst>
              <a:gd name="adj" fmla="val 8571"/>
            </a:avLst>
          </a:prstGeom>
          <a:solidFill>
            <a:srgbClr val="EAF1FB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2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0080" y="530352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Honesty rule: until measured, we state 'not yet quantified' and show the method - never a fabricated number.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SportPose  ·  3D Stereo Motion Capture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1247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terms glossary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55321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80" b="1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Intrinsics / Extrinsics  -  </a:t>
            </a:r>
            <a:pPr indent="0" marL="0">
              <a:buNone/>
            </a:pPr>
            <a:r>
              <a:rPr lang="en-US" sz="10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optics (focal length, principal point) / rotation+translation between the two cameras.</a:t>
            </a:r>
            <a:endParaRPr lang="en-US" sz="1080" dirty="0"/>
          </a:p>
        </p:txBody>
      </p:sp>
      <p:sp>
        <p:nvSpPr>
          <p:cNvPr id="5" name="Text 3"/>
          <p:cNvSpPr/>
          <p:nvPr/>
        </p:nvSpPr>
        <p:spPr>
          <a:xfrm>
            <a:off x="6263640" y="1554480"/>
            <a:ext cx="55321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80" b="1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Epipolar geometry  -  </a:t>
            </a:r>
            <a:pPr indent="0" marL="0">
              <a:buNone/>
            </a:pPr>
            <a:r>
              <a:rPr lang="en-US" sz="10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point in one view lies on a line in the other (fundamental/essential matrix) - used to validate matches.</a:t>
            </a:r>
            <a:endParaRPr lang="en-US" sz="1080" dirty="0"/>
          </a:p>
        </p:txBody>
      </p:sp>
      <p:sp>
        <p:nvSpPr>
          <p:cNvPr id="6" name="Text 4"/>
          <p:cNvSpPr/>
          <p:nvPr/>
        </p:nvSpPr>
        <p:spPr>
          <a:xfrm>
            <a:off x="457200" y="2487168"/>
            <a:ext cx="55321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80" b="1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Triangulation (DLT)  -  </a:t>
            </a:r>
            <a:pPr indent="0" marL="0">
              <a:buNone/>
            </a:pPr>
            <a:r>
              <a:rPr lang="en-US" sz="10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Intersecting two back-projected rays to recover a 3D point; Direct Linear Transform solves it linearly.</a:t>
            </a:r>
            <a:endParaRPr lang="en-US" sz="1080" dirty="0"/>
          </a:p>
        </p:txBody>
      </p:sp>
      <p:sp>
        <p:nvSpPr>
          <p:cNvPr id="7" name="Text 5"/>
          <p:cNvSpPr/>
          <p:nvPr/>
        </p:nvSpPr>
        <p:spPr>
          <a:xfrm>
            <a:off x="6263640" y="2487168"/>
            <a:ext cx="55321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80" b="1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Reprojection error / RMS  -  </a:t>
            </a:r>
            <a:pPr indent="0" marL="0">
              <a:buNone/>
            </a:pPr>
            <a:r>
              <a:rPr lang="en-US" sz="10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Pixel gap between detected and reprojected points; RMS summarizes calibration accuracy (&lt; 1 px target).</a:t>
            </a:r>
            <a:endParaRPr lang="en-US" sz="1080" dirty="0"/>
          </a:p>
        </p:txBody>
      </p:sp>
      <p:sp>
        <p:nvSpPr>
          <p:cNvPr id="8" name="Text 6"/>
          <p:cNvSpPr/>
          <p:nvPr/>
        </p:nvSpPr>
        <p:spPr>
          <a:xfrm>
            <a:off x="457200" y="3419856"/>
            <a:ext cx="55321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80" b="1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 adjustment  -  </a:t>
            </a:r>
            <a:pPr indent="0" marL="0">
              <a:buNone/>
            </a:pPr>
            <a:r>
              <a:rPr lang="en-US" sz="10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Jointly optimizing 3D points + camera params to minimize total reprojection error (gold standard).</a:t>
            </a:r>
            <a:endParaRPr lang="en-US" sz="1080" dirty="0"/>
          </a:p>
        </p:txBody>
      </p:sp>
      <p:sp>
        <p:nvSpPr>
          <p:cNvPr id="9" name="Text 7"/>
          <p:cNvSpPr/>
          <p:nvPr/>
        </p:nvSpPr>
        <p:spPr>
          <a:xfrm>
            <a:off x="6263640" y="3419856"/>
            <a:ext cx="55321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80" b="1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 -  </a:t>
            </a:r>
            <a:pPr indent="0" marL="0">
              <a:buNone/>
            </a:pPr>
            <a:r>
              <a:rPr lang="en-US" sz="10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between the two camera centres (|T|); wider = better depth precision, harder correspondence.</a:t>
            </a:r>
            <a:endParaRPr lang="en-US" sz="1080" dirty="0"/>
          </a:p>
        </p:txBody>
      </p:sp>
      <p:sp>
        <p:nvSpPr>
          <p:cNvPr id="10" name="Text 8"/>
          <p:cNvSpPr/>
          <p:nvPr/>
        </p:nvSpPr>
        <p:spPr>
          <a:xfrm>
            <a:off x="457200" y="4352544"/>
            <a:ext cx="55321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80" b="1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Genlock  -  </a:t>
            </a:r>
            <a:pPr indent="0" marL="0">
              <a:buNone/>
            </a:pPr>
            <a:r>
              <a:rPr lang="en-US" sz="10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synchronization of cameras to a common trigger/clock.</a:t>
            </a:r>
            <a:endParaRPr lang="en-US" sz="1080" dirty="0"/>
          </a:p>
        </p:txBody>
      </p:sp>
      <p:sp>
        <p:nvSpPr>
          <p:cNvPr id="11" name="Text 9"/>
          <p:cNvSpPr/>
          <p:nvPr/>
        </p:nvSpPr>
        <p:spPr>
          <a:xfrm>
            <a:off x="6263640" y="4352544"/>
            <a:ext cx="55321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80" b="1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vs global shutter  -  </a:t>
            </a:r>
            <a:pPr indent="0" marL="0">
              <a:buNone/>
            </a:pPr>
            <a:r>
              <a:rPr lang="en-US" sz="10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exposed sequentially vs all at once; rolling shutter skews fast motion.</a:t>
            </a:r>
            <a:endParaRPr lang="en-US" sz="1080" dirty="0"/>
          </a:p>
        </p:txBody>
      </p:sp>
      <p:sp>
        <p:nvSpPr>
          <p:cNvPr id="12" name="Text 10"/>
          <p:cNvSpPr/>
          <p:nvPr/>
        </p:nvSpPr>
        <p:spPr>
          <a:xfrm>
            <a:off x="457200" y="5285232"/>
            <a:ext cx="55321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80" b="1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Presence vs visibility  -  </a:t>
            </a:r>
            <a:pPr indent="0" marL="0">
              <a:buNone/>
            </a:pPr>
            <a:r>
              <a:rPr lang="en-US" sz="10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MediaPipe: landmark is in-image vs landmark is visible (not occluded).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6263640" y="5285232"/>
            <a:ext cx="55321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80" b="1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Kalman / One-Euro filter  -  </a:t>
            </a:r>
            <a:pPr indent="0" marL="0">
              <a:buNone/>
            </a:pPr>
            <a:r>
              <a:rPr lang="en-US" sz="10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filters that smooth jittery keypoints while tracking real motion.</a:t>
            </a:r>
            <a:endParaRPr lang="en-US" sz="1080" dirty="0"/>
          </a:p>
        </p:txBody>
      </p:sp>
      <p:sp>
        <p:nvSpPr>
          <p:cNvPr id="14" name="Text 1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SportPose  ·  3D Stereo Motion Capture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1723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-1097280"/>
            <a:ext cx="3657600" cy="3657600"/>
          </a:xfrm>
          <a:prstGeom prst="ellipse">
            <a:avLst/>
          </a:prstGeom>
          <a:solidFill>
            <a:srgbClr val="1F2F52"/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4572000"/>
            <a:ext cx="3291840" cy="3291840"/>
          </a:xfrm>
          <a:prstGeom prst="ellipse">
            <a:avLst/>
          </a:prstGeom>
          <a:solidFill>
            <a:srgbClr val="1F2F52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19456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841248" y="3200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AEC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41248" y="411480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FA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Remember: state the mechanism, volunteer the limitation, give the fix. Honesty &gt; a confident wrong answer.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35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SportPose — Markerless 3D Motion Capture</dc:title>
  <dc:subject>PptxGenJS Presentation</dc:subject>
  <dc:creator>SportPose</dc:creator>
  <cp:lastModifiedBy>SportPose</cp:lastModifiedBy>
  <cp:revision>1</cp:revision>
  <dcterms:created xsi:type="dcterms:W3CDTF">2026-07-15T22:08:01Z</dcterms:created>
  <dcterms:modified xsi:type="dcterms:W3CDTF">2026-07-15T22:08:01Z</dcterms:modified>
</cp:coreProperties>
</file>